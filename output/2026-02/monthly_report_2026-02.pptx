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Sales Report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  ·  DEMO-CENTRAL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3749040"/>
            <a:ext cx="1828800" cy="36576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97764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Figures computed from the sales database. Commentary drafted by a language model and checked against the source data.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7335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46304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month's revenue, units and orders, split by tier and 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26480" y="141732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67335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10" name="Text 8"/>
          <p:cNvSpPr/>
          <p:nvPr/>
        </p:nvSpPr>
        <p:spPr>
          <a:xfrm>
            <a:off x="6355080" y="16733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40880" y="16002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98424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last four months moved, and by how much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1927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246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structure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6301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mix, the premium range, best sellers, brands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306324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331927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20" name="Text 18"/>
          <p:cNvSpPr/>
          <p:nvPr/>
        </p:nvSpPr>
        <p:spPr>
          <a:xfrm>
            <a:off x="6355080" y="33192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363016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walk-in and trade versus export parcels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496519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46304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much of revenue a handful of SKUs carries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4709160"/>
            <a:ext cx="525780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4965192"/>
            <a:ext cx="502920" cy="502920"/>
          </a:xfrm>
          <a:prstGeom prst="ellipse">
            <a:avLst/>
          </a:prstGeom>
          <a:solidFill>
            <a:srgbClr val="5E8CFF"/>
          </a:solidFill>
          <a:ln/>
        </p:spPr>
      </p:sp>
      <p:sp>
        <p:nvSpPr>
          <p:cNvPr id="30" name="Text 28"/>
          <p:cNvSpPr/>
          <p:nvPr/>
        </p:nvSpPr>
        <p:spPr>
          <a:xfrm>
            <a:off x="6355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040880" y="48920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Operating context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040880" y="5276088"/>
            <a:ext cx="4160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traffic, enquiries and this month's campaigns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· 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2026 revenue NZ$50,900 across 284 orders, down 42.5% on January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order value $179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head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Monthly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falls 42.5% month on month, with Chinese New Year spanning nine days of February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 2026 – Feb 2026 · premium / milk powder / regular, stacked (NZD)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rend_amou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·  Monthly trend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down 26.0% to 1,755, a shallower fall than the revenue decline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three groups by units, so volume can be read separately from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rend_q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1417320"/>
            <a:ext cx="786384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lines account for 44.6% of store revenue and 4 of the top 10 products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range the store is putting in front of customers, before the detail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structure_int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920240"/>
            <a:ext cx="11430000" cy="2651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Supplements lead at 32.7% of revenue from 35.0% of units; milk powder 26.0% from 12.8%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share and unit share side by side — the gap between the two is the unit-price effect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ategory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280160"/>
            <a:ext cx="1184148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Honey holds 30.2% of premium revenue, souvenirs 22.8% from 29.0% of premium units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Shares are within premium, not of the store — a different denominator from the previous slide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premium_m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Westbrook Digestion Support Milk Powder tops the table at NZ$2,100.81 from 29 units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units sold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top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Clearfield at 7.2% of store revenue heads a spread where no brand passes 8%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Percentages are share of total store revenue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br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325880"/>
            <a:ext cx="1115568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Clearfield leads milk powder on 27.6%, with Two Rivers and Westbrook close behind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and shipped combined · percentages are share of the milk powder category, not of the store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milk_bran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86384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412480" y="1417320"/>
            <a:ext cx="3429000" cy="4480560"/>
          </a:xfrm>
          <a:prstGeom prst="roundRect">
            <a:avLst>
              <a:gd name="adj" fmla="val 160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13648" y="1563624"/>
            <a:ext cx="3026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613648" y="1874520"/>
            <a:ext cx="3026664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Clearfield (27.6%), Two Rivers (21.3%) and Westbrook (21.0%) together carry most of the category, with Fernvale last of the five at 12.7%. Shelf positioning decisions in this category will move a large share of it.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revenue splits NZ$7,153.60 regular against NZ$1,781.35 premium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marks the range the store is putting in front of customers — it is not a price band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pickup_ti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11430000" cy="2651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4048" y="4206240"/>
            <a:ext cx="11430000" cy="1463040"/>
          </a:xfrm>
          <a:prstGeom prst="roundRect">
            <a:avLst>
              <a:gd name="adj" fmla="val 375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5216" y="435254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" y="4663440"/>
            <a:ext cx="1102766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pickup revenue moved from NZ$2,051.28 in January to NZ$1,781.35 in February on 33 units. Adding a premium item to the pickup counter display would put the range in front of collecting customers.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·  Product structure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CoQ10 and magnesium rise against falls in joint care and lecithin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sold · a read on what customers are buying supplements for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functional_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3152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909560" y="1417320"/>
            <a:ext cx="3913632" cy="4480560"/>
          </a:xfrm>
          <a:prstGeom prst="roundRect">
            <a:avLst>
              <a:gd name="adj" fmla="val 1402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10728" y="1563624"/>
            <a:ext cx="3511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10728" y="1874520"/>
            <a:ext cx="3511296" cy="38587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CoQ10 grew from NZ$2,183.12 to NZ$2,446.27 and magnesium from NZ$1,470.08 to NZ$2,044.54, while joint care fell from NZ$3,725.81 to NZ$1,099.82 and lecithin from NZ$2,214.55 to NZ$629.43. Fish oil remains the largest at NZ$3,382.65.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·  Channels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 down 40.0%, local down 9.09%, shifting the split to 56.9% local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 · grouped rather than stacked, because the two channels move independently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17320"/>
            <a:ext cx="704088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635240" y="1417320"/>
            <a:ext cx="4187952" cy="1005840"/>
          </a:xfrm>
          <a:prstGeom prst="roundRect">
            <a:avLst>
              <a:gd name="adj" fmla="val 545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818120" y="1545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5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-40.0%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921240" y="158191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units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parcels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635240" y="2560320"/>
            <a:ext cx="4187952" cy="1005840"/>
          </a:xfrm>
          <a:prstGeom prst="roundRect">
            <a:avLst>
              <a:gd name="adj" fmla="val 545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18120" y="268833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59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-9.1%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9921240" y="2724912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units</a:t>
            </a:r>
            <a:endParaRPr lang="en-US" sz="1100" dirty="0"/>
          </a:p>
          <a:p>
            <a:pPr algn="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walk-in + trade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635240" y="3840480"/>
            <a:ext cx="4187952" cy="2057400"/>
          </a:xfrm>
          <a:prstGeom prst="roundRect">
            <a:avLst>
              <a:gd name="adj" fmla="val 2667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36408" y="3986784"/>
            <a:ext cx="37856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836408" y="4297680"/>
            <a:ext cx="3785616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fell from 1,265 to 759 units while local held closer at 1,000, a pattern likely related to the nine-day Chinese New Year holiday and the freight suspension around it. Local trade at 56.9% of units is the higher share for the first time in the period shown.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·  Concentration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decile of SKUs carries 34.5% of revenue; half comes from the top two deciles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share of revenue as SKUs are added worst-to-best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" name="Image 0" descr="/Users/xiangruhe/Desktop/retail-report-pipeline/data/work/chart_concen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417320"/>
            <a:ext cx="111556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Operating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 visits and 51 mini-programme leads at a 47.0% completion rate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Entered by hand each month — these figures are not in the POS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176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669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 traffic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702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31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4531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enquiries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6448" y="1691640"/>
            <a:ext cx="3611880" cy="1554480"/>
          </a:xfrm>
          <a:prstGeom prst="roundRect">
            <a:avLst>
              <a:gd name="adj" fmla="val 3529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39328" y="1856232"/>
            <a:ext cx="3246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339328" y="265176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enquiry completion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566160"/>
            <a:ext cx="11430000" cy="1371600"/>
          </a:xfrm>
          <a:prstGeom prst="roundRect">
            <a:avLst>
              <a:gd name="adj" fmla="val 4000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71246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6D6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groups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4023360"/>
            <a:ext cx="11027664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tour groups this month.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·  Operating context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30352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Chinese New Year gift packs, in-store only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87552"/>
            <a:ext cx="11247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Taken from the note entered in monthly_context.csv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50976"/>
            <a:ext cx="1005840" cy="32004"/>
          </a:xfrm>
          <a:prstGeom prst="rect">
            <a:avLst/>
          </a:prstGeom>
          <a:solidFill>
            <a:srgbClr val="5E8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1417320"/>
            <a:ext cx="11430000" cy="3931920"/>
          </a:xfrm>
          <a:prstGeom prst="roundRect">
            <a:avLst>
              <a:gd name="adj" fmla="val 1395"/>
            </a:avLst>
          </a:prstGeom>
          <a:solidFill>
            <a:srgbClr val="141A33"/>
          </a:solidFill>
          <a:ln w="12700">
            <a:solidFill>
              <a:srgbClr val="232B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563624"/>
            <a:ext cx="110276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points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" y="1874520"/>
            <a:ext cx="11027664" cy="3310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In-store customers: Chinese New Year gift packs, available in store only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0F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on any figure trace back to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3383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E8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DEMO-CENTRAL  ·  Feb 2026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2026-08-13 from report_data.json — every number on every slide comes from that one file.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Sales Report Feb 2026</dc:title>
  <dc:subject>PptxGenJS Presentation</dc:subject>
  <dc:creator>retail-report-pipeline</dc:creator>
  <cp:lastModifiedBy>retail-report-pipeline</cp:lastModifiedBy>
  <cp:revision>1</cp:revision>
  <dcterms:created xsi:type="dcterms:W3CDTF">2026-08-13T00:47:39Z</dcterms:created>
  <dcterms:modified xsi:type="dcterms:W3CDTF">2026-08-13T00:47:39Z</dcterms:modified>
</cp:coreProperties>
</file>