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Report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  ·  DEMO-CENTRAL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828800" cy="36576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77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computed from the sales database. Commentary drafted by a language model and checked against the source data.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month's revenue, units and orders, split by tier and category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67335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600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9842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last four months moved, and by how much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1927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structure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63016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mix, the premium range, best sellers, brands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06324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31927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3246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63016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walk-in and trade versus export parcels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96519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27608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revenue a handful of SKUs carries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470916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496519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context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40880" y="527608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traffic, enquiries and this month's campaigns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2026: NZ$79,200 revenue on 433 orders, average order value NZ$182.91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 $183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head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Monthly trend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 55.6% on February after the 42.5% February fall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 – Mar 2026 · premium / milk powder / regular, stacked (NZD)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rend_am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17320"/>
            <a:ext cx="7863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Monthly trend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up 40.57% to 2,467 after February's 25.98% decline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three groups by units, so volume can be read separately from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rend_q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17320"/>
            <a:ext cx="7863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lines account for NZ$35,255, or 44.5% of store revenue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range the store is putting in front of customers, before the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structure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920240"/>
            <a:ext cx="114300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Supplements lead on revenue at 31.1%; souvenirs 16.9% of revenue on 24.6% of units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and unit share side by side — the gap between the two is the unit-price effect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ategory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280160"/>
            <a:ext cx="11841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Souvenirs 37.9% and honey 30.0% of premium revenue; milk powder 4.8%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are within premium, not of the store — a different denominator from the previous slide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premium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of the top ten SKUs are premium, led by souvenirs and supplements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units sold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op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Ambervale at 8.2% of store revenue heads the top five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Percentages are share of total store revenue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br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Ambervale and Clearfield together hold over half of milk powder revenue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and shipped combined · percentages are share of the milk powder category, not of the store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milk_br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8638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417320"/>
            <a:ext cx="3429000" cy="4480560"/>
          </a:xfrm>
          <a:prstGeom prst="roundRect">
            <a:avLst>
              <a:gd name="adj" fmla="val 160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13648" y="1563624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13648" y="1874520"/>
            <a:ext cx="3026664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Ambervale takes 29.3% of milk powder revenue and Clearfield 24.7%, with Fernvale lowest of the six listed at 8.9%. The gap between the top two and Highmoor at 15.6% shows where the category's volume sits.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regular revenue NZ$10,231 in March against premium NZ$1,676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marks the range the store is putting in front of customers — it is not a price band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pickup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" y="4206240"/>
            <a:ext cx="11430000" cy="1463040"/>
          </a:xfrm>
          <a:prstGeom prst="roundRect">
            <a:avLst>
              <a:gd name="adj" fmla="val 375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" y="435254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4663440"/>
            <a:ext cx="1102766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pickup revenue rose to NZ$10,231.29 from NZ$7,153.60 in February, while premium pickup fell across both February and March to NZ$1,675.84 on 25 units. Premium lines could be given counter space at the pickup point so collection customers see them at the moment of handover.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Probiotic and lecithin lead March functional revenue; propolis at NZ$466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· a read on what customers are buying supplements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functional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3152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417320"/>
            <a:ext cx="3913632" cy="4480560"/>
          </a:xfrm>
          <a:prstGeom prst="roundRect">
            <a:avLst>
              <a:gd name="adj" fmla="val 1402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10728" y="1563624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10728" y="1874520"/>
            <a:ext cx="3511296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Probiotic reached NZ$3,733.39 in March from NZ$1,051.38 in February, and lecithin NZ$2,713.44 from NZ$629.43, while propolis fell in both February and March to NZ$465.89. Fish oil held the largest single line at NZ$4,270.25.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Channels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units back to 1,230 in March, close to local at 1,240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· grouped rather than stacked, because the two channels move independently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04088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417320"/>
            <a:ext cx="4187952" cy="1005840"/>
          </a:xfrm>
          <a:prstGeom prst="roundRect">
            <a:avLst>
              <a:gd name="adj" fmla="val 545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5453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+62.1%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921240" y="158191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units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2560320"/>
            <a:ext cx="4187952" cy="1005840"/>
          </a:xfrm>
          <a:prstGeom prst="roundRect">
            <a:avLst>
              <a:gd name="adj" fmla="val 545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26883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+24.0%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921240" y="272491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units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+ trade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3840480"/>
            <a:ext cx="4187952" cy="2057400"/>
          </a:xfrm>
          <a:prstGeom prst="roundRect">
            <a:avLst>
              <a:gd name="adj" fmla="val 2667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6408" y="398678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36408" y="4297680"/>
            <a:ext cx="3785616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units fell 40.0% in February and rose 62.06% in March, a pattern typically affected by Chinese New Year, when cross-border freight and clearance are suspended. Local units rose 24.0% to 1,240, leaving the split at 50.2% local to 49.8% export.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Concentration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SKU decile carries 32.6% of revenue; half the range covers 82.8%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share of revenue as SKUs are added worst-to-best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Operating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 visits and 88 mini-programme leads at a 59.0% completion rate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Entered by hand each month — these figures are not in the POS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traffic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531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enquiries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393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completion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566160"/>
            <a:ext cx="11430000" cy="1371600"/>
          </a:xfrm>
          <a:prstGeom prst="roundRect">
            <a:avLst>
              <a:gd name="adj" fmla="val 400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71246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groups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4023360"/>
            <a:ext cx="110276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tour groups this month.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Operating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activity centred on premium supplements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from the note entered in monthly_context.csv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17320"/>
            <a:ext cx="11430000" cy="3931920"/>
          </a:xfrm>
          <a:prstGeom prst="roundRect">
            <a:avLst>
              <a:gd name="adj" fmla="val 139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56362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874520"/>
            <a:ext cx="1102766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supplements: 3 for 10% off, or buy 5 get 1 free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orders: free shipping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on any figure trace back to source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DEMO-CENTRAL  ·  Mar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2026-08-13 from report_data.json — every number on every slide comes from that one file.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Sales Report Mar 2026</dc:title>
  <dc:subject>PptxGenJS Presentation</dc:subject>
  <dc:creator>retail-report-pipeline</dc:creator>
  <cp:lastModifiedBy>retail-report-pipeline</cp:lastModifiedBy>
  <cp:revision>1</cp:revision>
  <dcterms:created xsi:type="dcterms:W3CDTF">2026-08-13T01:23:40Z</dcterms:created>
  <dcterms:modified xsi:type="dcterms:W3CDTF">2026-08-13T01:23:40Z</dcterms:modified>
</cp:coreProperties>
</file>