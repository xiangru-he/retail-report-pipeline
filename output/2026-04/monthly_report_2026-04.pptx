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Report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2026  ·  DEMO-CENTRAL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1828800" cy="36576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9776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computed from the sales database. Commentary drafted by a language model and checked against the source data.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7335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842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month's revenue, units and orders, split by tier and category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67335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600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19842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last four months moved, and by how much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31927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structure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63016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mix, the premium range, best sellers, brands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06324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331927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32461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363016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walk-in and trade versus export parcels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96519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892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527608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revenue a handful of SKUs carries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470916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496519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4892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context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40880" y="527608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traffic, enquiries and this month's campaigns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revenue NZ$80,599.98 across 451 orders, up 1.77% on March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 $179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head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1143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Monthly trend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steady after the February dip, up 1.77% month on month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 – Apr 2026 · premium / milk powder / regular, stacked (NZD)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trend_am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417320"/>
            <a:ext cx="7863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Monthly trend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reach 2,563, up 3.89% on March and above the January level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three groups by units, so volume can be read separately from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trend_q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417320"/>
            <a:ext cx="7863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lines account for NZ$36,917.92, 45.8% of store revenue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range the store is putting in front of customers, before the detail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structure_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920240"/>
            <a:ext cx="114300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 leads at 34.7% of revenue; souvenir takes 17.7% of units on 12.4% of value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 and unit share side by side — the gap between the two is the unit-price effect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category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280160"/>
            <a:ext cx="11841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Supplement, honey and souvenir each hold roughly a quarter of premium revenue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are within premium, not of the store — a different denominator from the previous slide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premium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1143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of the top 10 SKUs are premium, led by Solwave Liver Support Complex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units sold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top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Solwave at 7.8% of store revenue heads the supplement brands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Percentages are share of total store revenue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br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Clearfield 23.8% and Ambervale 22.1% split the milk powder category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and shipped combined · percentages are share of the milk powder category, not of the store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milk_br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78638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417320"/>
            <a:ext cx="3429000" cy="4480560"/>
          </a:xfrm>
          <a:prstGeom prst="roundRect">
            <a:avLst>
              <a:gd name="adj" fmla="val 1600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13648" y="1563624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13648" y="1874520"/>
            <a:ext cx="3026664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Clearfield, Ambervale and Two Rivers sit within two points of each other, so no single brand anchors the category; Westbrook at 6.4% is the smallest of the six listed.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premium rises to NZ$2,238.73 as regular pickup falls to NZ$4,996.31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marks the range the store is putting in front of customers — it is not a price band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pickup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1143000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4048" y="4206240"/>
            <a:ext cx="11430000" cy="1463040"/>
          </a:xfrm>
          <a:prstGeom prst="roundRect">
            <a:avLst>
              <a:gd name="adj" fmla="val 3750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" y="435254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4663440"/>
            <a:ext cx="1102766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pickup value and units (45) are both the highest of the four months, while regular pickup dropped from NZ$10,231.29 in March. Keep a premium facing at the collection counter so waiting customers see the range.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 support NZ$4,082.87 and fish oil NZ$4,865.41 lead functional lines in April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 · a read on what customers are buying supplements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functional_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73152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417320"/>
            <a:ext cx="3913632" cy="4480560"/>
          </a:xfrm>
          <a:prstGeom prst="roundRect">
            <a:avLst>
              <a:gd name="adj" fmla="val 1402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10728" y="1563624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10728" y="1874520"/>
            <a:ext cx="3511296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 support rose from NZ$862.89 in March to NZ$4,082.87, and joint care from 47 to 98 units; eye care and magnesium both fell back. Group the liver support and fish oil facings together on the supplement bay while demand holds.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Channels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1,300 units against local 1,265, a 50.7/49.3 split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· grouped rather than stacked, because the two channels move independently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cha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704088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417320"/>
            <a:ext cx="4187952" cy="1005840"/>
          </a:xfrm>
          <a:prstGeom prst="roundRect">
            <a:avLst>
              <a:gd name="adj" fmla="val 5455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5453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+5.7%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921240" y="158191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units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35240" y="2560320"/>
            <a:ext cx="4187952" cy="1005840"/>
          </a:xfrm>
          <a:prstGeom prst="roundRect">
            <a:avLst>
              <a:gd name="adj" fmla="val 5455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26883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+2.0%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921240" y="272491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units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 + trade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35240" y="3840480"/>
            <a:ext cx="4187952" cy="2057400"/>
          </a:xfrm>
          <a:prstGeom prst="roundRect">
            <a:avLst>
              <a:gd name="adj" fmla="val 2667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36408" y="3986784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36408" y="4297680"/>
            <a:ext cx="3785616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units rose 5.69% and local 2.02% on March, with export back above the January volume of 1,265 after the February fall that is typically affected by Chinese New Year freight suspension.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Concentration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three deciles of SKUs carry 62.3% of revenue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share of revenue as SKUs are added worst-to-best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concen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155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Operating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 visits, 96 mini-programme leads at 63.0% completion, tour group of 30 on 12-14 Apr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Entered by hand each month — these figures are not in the POS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6916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5623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2651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traffic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16916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85623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53128" y="2651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enquiries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6448" y="16916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85623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39328" y="2651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completion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566160"/>
            <a:ext cx="11430000" cy="1371600"/>
          </a:xfrm>
          <a:prstGeom prst="roundRect">
            <a:avLst>
              <a:gd name="adj" fmla="val 4000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71246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groups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" y="4023360"/>
            <a:ext cx="110276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12-14 Apr, tour group of 30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Operating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 health check promo and new honey range launch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from the note entered in monthly_context.csv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17320"/>
            <a:ext cx="11430000" cy="3931920"/>
          </a:xfrm>
          <a:prstGeom prst="roundRect">
            <a:avLst>
              <a:gd name="adj" fmla="val 1395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56362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1874520"/>
            <a:ext cx="11027664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 shoppers: autumn health check promotion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 range: new range launch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on any figure trace back to source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DEMO-CENTRAL  ·  Apr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2026-08-13 from report_data.json — every number on every slide comes from that one file.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Sales Report Apr 2026</dc:title>
  <dc:subject>PptxGenJS Presentation</dc:subject>
  <dc:creator>retail-report-pipeline</dc:creator>
  <cp:lastModifiedBy>retail-report-pipeline</cp:lastModifiedBy>
  <cp:revision>1</cp:revision>
  <dcterms:created xsi:type="dcterms:W3CDTF">2026-08-13T00:48:49Z</dcterms:created>
  <dcterms:modified xsi:type="dcterms:W3CDTF">2026-08-13T00:48:49Z</dcterms:modified>
</cp:coreProperties>
</file>