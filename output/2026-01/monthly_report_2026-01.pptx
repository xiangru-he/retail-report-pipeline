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F"/>
        </a:solidFill>
      </p:bgPr>
    </p:bg>
    <p:spTree>
      <p:nvGrpSpPr>
        <p:cNvPr id="1" name=""/>
        <p:cNvGrpSpPr/>
        <p:nvPr/>
      </p:nvGrpSpPr>
      <p:grpSpPr>
        <a:xfrm>
          <a:off x="0" y="0"/>
          <a:ext cx="0" cy="0"/>
          <a:chOff x="0" y="0"/>
          <a:chExt cx="0" cy="0"/>
        </a:xfrm>
      </p:grpSpPr>
      <p:sp>
        <p:nvSpPr>
          <p:cNvPr id="2" name="Text 0"/>
          <p:cNvSpPr/>
          <p:nvPr/>
        </p:nvSpPr>
        <p:spPr>
          <a:xfrm>
            <a:off x="822960" y="2286000"/>
            <a:ext cx="10515600" cy="822960"/>
          </a:xfrm>
          <a:prstGeom prst="rect">
            <a:avLst/>
          </a:prstGeom>
          <a:noFill/>
          <a:ln/>
        </p:spPr>
        <p:txBody>
          <a:bodyPr wrap="square" rtlCol="0" anchor="ctr"/>
          <a:lstStyle/>
          <a:p>
            <a:pPr indent="0" marL="0">
              <a:buNone/>
            </a:pPr>
            <a:r>
              <a:rPr lang="en-US" sz="4200" b="1" dirty="0">
                <a:solidFill>
                  <a:srgbClr val="FFFFFF"/>
                </a:solidFill>
                <a:latin typeface="Arial" pitchFamily="34" charset="0"/>
                <a:ea typeface="Arial" pitchFamily="34" charset="-122"/>
                <a:cs typeface="Arial" pitchFamily="34" charset="-120"/>
              </a:rPr>
              <a:t>Monthly Sales Report</a:t>
            </a:r>
            <a:endParaRPr lang="en-US" sz="4200" dirty="0"/>
          </a:p>
        </p:txBody>
      </p:sp>
      <p:sp>
        <p:nvSpPr>
          <p:cNvPr id="3" name="Text 1"/>
          <p:cNvSpPr/>
          <p:nvPr/>
        </p:nvSpPr>
        <p:spPr>
          <a:xfrm>
            <a:off x="822960" y="3154680"/>
            <a:ext cx="10515600" cy="457200"/>
          </a:xfrm>
          <a:prstGeom prst="rect">
            <a:avLst/>
          </a:prstGeom>
          <a:noFill/>
          <a:ln/>
        </p:spPr>
        <p:txBody>
          <a:bodyPr wrap="square" rtlCol="0" anchor="ctr"/>
          <a:lstStyle/>
          <a:p>
            <a:pPr indent="0" marL="0">
              <a:buNone/>
            </a:pPr>
            <a:r>
              <a:rPr lang="en-US" sz="1900" dirty="0">
                <a:solidFill>
                  <a:srgbClr val="5E8CFF"/>
                </a:solidFill>
                <a:latin typeface="Arial" pitchFamily="34" charset="0"/>
                <a:ea typeface="Arial" pitchFamily="34" charset="-122"/>
                <a:cs typeface="Arial" pitchFamily="34" charset="-120"/>
              </a:rPr>
              <a:t>Jan 2026  ·  DEMO-CENTRAL</a:t>
            </a:r>
            <a:endParaRPr lang="en-US" sz="1900" dirty="0"/>
          </a:p>
        </p:txBody>
      </p:sp>
      <p:sp>
        <p:nvSpPr>
          <p:cNvPr id="4" name="Shape 2"/>
          <p:cNvSpPr/>
          <p:nvPr/>
        </p:nvSpPr>
        <p:spPr>
          <a:xfrm>
            <a:off x="822960" y="3749040"/>
            <a:ext cx="1828800" cy="36576"/>
          </a:xfrm>
          <a:prstGeom prst="rect">
            <a:avLst/>
          </a:prstGeom>
          <a:solidFill>
            <a:srgbClr val="5E8CFF"/>
          </a:solidFill>
          <a:ln w="12700">
            <a:solidFill>
              <a:srgbClr val="333333"/>
            </a:solidFill>
            <a:prstDash val="solid"/>
          </a:ln>
        </p:spPr>
      </p:sp>
      <p:sp>
        <p:nvSpPr>
          <p:cNvPr id="5" name="Text 3"/>
          <p:cNvSpPr/>
          <p:nvPr/>
        </p:nvSpPr>
        <p:spPr>
          <a:xfrm>
            <a:off x="822960" y="3977640"/>
            <a:ext cx="8686800" cy="640080"/>
          </a:xfrm>
          <a:prstGeom prst="rect">
            <a:avLst/>
          </a:prstGeom>
          <a:noFill/>
          <a:ln/>
        </p:spPr>
        <p:txBody>
          <a:bodyPr wrap="square" rtlCol="0" anchor="ctr"/>
          <a:lstStyle/>
          <a:p>
            <a:pPr indent="0" marL="0">
              <a:lnSpc>
                <a:spcPct val="130000"/>
              </a:lnSpc>
              <a:buNone/>
            </a:pPr>
            <a:r>
              <a:rPr lang="en-US" sz="1150" dirty="0">
                <a:solidFill>
                  <a:srgbClr val="8B93B8"/>
                </a:solidFill>
                <a:latin typeface="Arial" pitchFamily="34" charset="0"/>
                <a:ea typeface="Arial" pitchFamily="34" charset="-122"/>
                <a:cs typeface="Arial" pitchFamily="34" charset="-120"/>
              </a:rPr>
              <a:t>Figures computed from the sales database. Commentary drafted by a language model and checked against the source data.</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F"/>
        </a:solidFill>
      </p:bgPr>
    </p:bg>
    <p:spTree>
      <p:nvGrpSpPr>
        <p:cNvPr id="1" name=""/>
        <p:cNvGrpSpPr/>
        <p:nvPr/>
      </p:nvGrpSpPr>
      <p:grpSpPr>
        <a:xfrm>
          <a:off x="0" y="0"/>
          <a:ext cx="0" cy="0"/>
          <a:chOff x="0" y="0"/>
          <a:chExt cx="0" cy="0"/>
        </a:xfrm>
      </p:grpSpPr>
      <p:sp>
        <p:nvSpPr>
          <p:cNvPr id="2" name="Text 0"/>
          <p:cNvSpPr/>
          <p:nvPr/>
        </p:nvSpPr>
        <p:spPr>
          <a:xfrm>
            <a:off x="548640" y="457200"/>
            <a:ext cx="5486400" cy="64008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Contents</a:t>
            </a:r>
            <a:endParaRPr lang="en-US" sz="3000" dirty="0"/>
          </a:p>
        </p:txBody>
      </p:sp>
      <p:sp>
        <p:nvSpPr>
          <p:cNvPr id="3" name="Shape 1"/>
          <p:cNvSpPr/>
          <p:nvPr/>
        </p:nvSpPr>
        <p:spPr>
          <a:xfrm>
            <a:off x="548640" y="1417320"/>
            <a:ext cx="5257800" cy="1417320"/>
          </a:xfrm>
          <a:prstGeom prst="roundRect">
            <a:avLst>
              <a:gd name="adj" fmla="val 3871"/>
            </a:avLst>
          </a:prstGeom>
          <a:solidFill>
            <a:srgbClr val="141A33"/>
          </a:solidFill>
          <a:ln w="12700">
            <a:solidFill>
              <a:srgbClr val="232B52"/>
            </a:solidFill>
            <a:prstDash val="solid"/>
          </a:ln>
        </p:spPr>
      </p:sp>
      <p:sp>
        <p:nvSpPr>
          <p:cNvPr id="4" name="Shape 2"/>
          <p:cNvSpPr/>
          <p:nvPr/>
        </p:nvSpPr>
        <p:spPr>
          <a:xfrm>
            <a:off x="777240" y="1673352"/>
            <a:ext cx="502920" cy="502920"/>
          </a:xfrm>
          <a:prstGeom prst="ellipse">
            <a:avLst/>
          </a:prstGeom>
          <a:solidFill>
            <a:srgbClr val="5E8CFF"/>
          </a:solidFill>
          <a:ln/>
        </p:spPr>
      </p:sp>
      <p:sp>
        <p:nvSpPr>
          <p:cNvPr id="5" name="Text 3"/>
          <p:cNvSpPr/>
          <p:nvPr/>
        </p:nvSpPr>
        <p:spPr>
          <a:xfrm>
            <a:off x="777240" y="1673352"/>
            <a:ext cx="502920" cy="5029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01</a:t>
            </a:r>
            <a:endParaRPr lang="en-US" sz="1300" dirty="0"/>
          </a:p>
        </p:txBody>
      </p:sp>
      <p:sp>
        <p:nvSpPr>
          <p:cNvPr id="6" name="Text 4"/>
          <p:cNvSpPr/>
          <p:nvPr/>
        </p:nvSpPr>
        <p:spPr>
          <a:xfrm>
            <a:off x="1463040" y="1600200"/>
            <a:ext cx="416052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Overview</a:t>
            </a:r>
            <a:endParaRPr lang="en-US" sz="1500" dirty="0"/>
          </a:p>
        </p:txBody>
      </p:sp>
      <p:sp>
        <p:nvSpPr>
          <p:cNvPr id="7" name="Text 5"/>
          <p:cNvSpPr/>
          <p:nvPr/>
        </p:nvSpPr>
        <p:spPr>
          <a:xfrm>
            <a:off x="1463040" y="1984248"/>
            <a:ext cx="4160520" cy="731520"/>
          </a:xfrm>
          <a:prstGeom prst="rect">
            <a:avLst/>
          </a:prstGeom>
          <a:noFill/>
          <a:ln/>
        </p:spPr>
        <p:txBody>
          <a:bodyPr wrap="square" rtlCol="0" anchor="ctr"/>
          <a:lstStyle/>
          <a:p>
            <a:pPr indent="0" marL="0">
              <a:lnSpc>
                <a:spcPct val="120000"/>
              </a:lnSpc>
              <a:buNone/>
            </a:pPr>
            <a:r>
              <a:rPr lang="en-US" sz="1100" dirty="0">
                <a:solidFill>
                  <a:srgbClr val="8B93B8"/>
                </a:solidFill>
                <a:latin typeface="Arial" pitchFamily="34" charset="0"/>
                <a:ea typeface="Arial" pitchFamily="34" charset="-122"/>
                <a:cs typeface="Arial" pitchFamily="34" charset="-120"/>
              </a:rPr>
              <a:t>This month's revenue, units and orders, split by tier and category</a:t>
            </a:r>
            <a:endParaRPr lang="en-US" sz="1100" dirty="0"/>
          </a:p>
        </p:txBody>
      </p:sp>
      <p:sp>
        <p:nvSpPr>
          <p:cNvPr id="8" name="Shape 6"/>
          <p:cNvSpPr/>
          <p:nvPr/>
        </p:nvSpPr>
        <p:spPr>
          <a:xfrm>
            <a:off x="6126480" y="1417320"/>
            <a:ext cx="5257800" cy="1417320"/>
          </a:xfrm>
          <a:prstGeom prst="roundRect">
            <a:avLst>
              <a:gd name="adj" fmla="val 3871"/>
            </a:avLst>
          </a:prstGeom>
          <a:solidFill>
            <a:srgbClr val="141A33"/>
          </a:solidFill>
          <a:ln w="12700">
            <a:solidFill>
              <a:srgbClr val="232B52"/>
            </a:solidFill>
            <a:prstDash val="solid"/>
          </a:ln>
        </p:spPr>
      </p:sp>
      <p:sp>
        <p:nvSpPr>
          <p:cNvPr id="9" name="Shape 7"/>
          <p:cNvSpPr/>
          <p:nvPr/>
        </p:nvSpPr>
        <p:spPr>
          <a:xfrm>
            <a:off x="6355080" y="1673352"/>
            <a:ext cx="502920" cy="502920"/>
          </a:xfrm>
          <a:prstGeom prst="ellipse">
            <a:avLst/>
          </a:prstGeom>
          <a:solidFill>
            <a:srgbClr val="5E8CFF"/>
          </a:solidFill>
          <a:ln/>
        </p:spPr>
      </p:sp>
      <p:sp>
        <p:nvSpPr>
          <p:cNvPr id="10" name="Text 8"/>
          <p:cNvSpPr/>
          <p:nvPr/>
        </p:nvSpPr>
        <p:spPr>
          <a:xfrm>
            <a:off x="6355080" y="1673352"/>
            <a:ext cx="502920" cy="5029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02</a:t>
            </a:r>
            <a:endParaRPr lang="en-US" sz="1300" dirty="0"/>
          </a:p>
        </p:txBody>
      </p:sp>
      <p:sp>
        <p:nvSpPr>
          <p:cNvPr id="11" name="Text 9"/>
          <p:cNvSpPr/>
          <p:nvPr/>
        </p:nvSpPr>
        <p:spPr>
          <a:xfrm>
            <a:off x="7040880" y="1600200"/>
            <a:ext cx="416052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Monthly trend</a:t>
            </a:r>
            <a:endParaRPr lang="en-US" sz="1500" dirty="0"/>
          </a:p>
        </p:txBody>
      </p:sp>
      <p:sp>
        <p:nvSpPr>
          <p:cNvPr id="12" name="Text 10"/>
          <p:cNvSpPr/>
          <p:nvPr/>
        </p:nvSpPr>
        <p:spPr>
          <a:xfrm>
            <a:off x="7040880" y="1984248"/>
            <a:ext cx="4160520" cy="731520"/>
          </a:xfrm>
          <a:prstGeom prst="rect">
            <a:avLst/>
          </a:prstGeom>
          <a:noFill/>
          <a:ln/>
        </p:spPr>
        <p:txBody>
          <a:bodyPr wrap="square" rtlCol="0" anchor="ctr"/>
          <a:lstStyle/>
          <a:p>
            <a:pPr indent="0" marL="0">
              <a:lnSpc>
                <a:spcPct val="120000"/>
              </a:lnSpc>
              <a:buNone/>
            </a:pPr>
            <a:r>
              <a:rPr lang="en-US" sz="1100" dirty="0">
                <a:solidFill>
                  <a:srgbClr val="8B93B8"/>
                </a:solidFill>
                <a:latin typeface="Arial" pitchFamily="34" charset="0"/>
                <a:ea typeface="Arial" pitchFamily="34" charset="-122"/>
                <a:cs typeface="Arial" pitchFamily="34" charset="-120"/>
              </a:rPr>
              <a:t>How the last four months moved, and by how much</a:t>
            </a:r>
            <a:endParaRPr lang="en-US" sz="1100" dirty="0"/>
          </a:p>
        </p:txBody>
      </p:sp>
      <p:sp>
        <p:nvSpPr>
          <p:cNvPr id="13" name="Shape 11"/>
          <p:cNvSpPr/>
          <p:nvPr/>
        </p:nvSpPr>
        <p:spPr>
          <a:xfrm>
            <a:off x="548640" y="3063240"/>
            <a:ext cx="5257800" cy="1417320"/>
          </a:xfrm>
          <a:prstGeom prst="roundRect">
            <a:avLst>
              <a:gd name="adj" fmla="val 3871"/>
            </a:avLst>
          </a:prstGeom>
          <a:solidFill>
            <a:srgbClr val="141A33"/>
          </a:solidFill>
          <a:ln w="12700">
            <a:solidFill>
              <a:srgbClr val="232B52"/>
            </a:solidFill>
            <a:prstDash val="solid"/>
          </a:ln>
        </p:spPr>
      </p:sp>
      <p:sp>
        <p:nvSpPr>
          <p:cNvPr id="14" name="Shape 12"/>
          <p:cNvSpPr/>
          <p:nvPr/>
        </p:nvSpPr>
        <p:spPr>
          <a:xfrm>
            <a:off x="777240" y="3319272"/>
            <a:ext cx="502920" cy="502920"/>
          </a:xfrm>
          <a:prstGeom prst="ellipse">
            <a:avLst/>
          </a:prstGeom>
          <a:solidFill>
            <a:srgbClr val="5E8CFF"/>
          </a:solidFill>
          <a:ln/>
        </p:spPr>
      </p:sp>
      <p:sp>
        <p:nvSpPr>
          <p:cNvPr id="15" name="Text 13"/>
          <p:cNvSpPr/>
          <p:nvPr/>
        </p:nvSpPr>
        <p:spPr>
          <a:xfrm>
            <a:off x="777240" y="3319272"/>
            <a:ext cx="502920" cy="5029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03</a:t>
            </a:r>
            <a:endParaRPr lang="en-US" sz="1300" dirty="0"/>
          </a:p>
        </p:txBody>
      </p:sp>
      <p:sp>
        <p:nvSpPr>
          <p:cNvPr id="16" name="Text 14"/>
          <p:cNvSpPr/>
          <p:nvPr/>
        </p:nvSpPr>
        <p:spPr>
          <a:xfrm>
            <a:off x="1463040" y="3246120"/>
            <a:ext cx="416052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Product structure</a:t>
            </a:r>
            <a:endParaRPr lang="en-US" sz="1500" dirty="0"/>
          </a:p>
        </p:txBody>
      </p:sp>
      <p:sp>
        <p:nvSpPr>
          <p:cNvPr id="17" name="Text 15"/>
          <p:cNvSpPr/>
          <p:nvPr/>
        </p:nvSpPr>
        <p:spPr>
          <a:xfrm>
            <a:off x="1463040" y="3630168"/>
            <a:ext cx="4160520" cy="731520"/>
          </a:xfrm>
          <a:prstGeom prst="rect">
            <a:avLst/>
          </a:prstGeom>
          <a:noFill/>
          <a:ln/>
        </p:spPr>
        <p:txBody>
          <a:bodyPr wrap="square" rtlCol="0" anchor="ctr"/>
          <a:lstStyle/>
          <a:p>
            <a:pPr indent="0" marL="0">
              <a:lnSpc>
                <a:spcPct val="120000"/>
              </a:lnSpc>
              <a:buNone/>
            </a:pPr>
            <a:r>
              <a:rPr lang="en-US" sz="1100" dirty="0">
                <a:solidFill>
                  <a:srgbClr val="8B93B8"/>
                </a:solidFill>
                <a:latin typeface="Arial" pitchFamily="34" charset="0"/>
                <a:ea typeface="Arial" pitchFamily="34" charset="-122"/>
                <a:cs typeface="Arial" pitchFamily="34" charset="-120"/>
              </a:rPr>
              <a:t>Category mix, the premium range, best sellers, brands</a:t>
            </a:r>
            <a:endParaRPr lang="en-US" sz="1100" dirty="0"/>
          </a:p>
        </p:txBody>
      </p:sp>
      <p:sp>
        <p:nvSpPr>
          <p:cNvPr id="18" name="Shape 16"/>
          <p:cNvSpPr/>
          <p:nvPr/>
        </p:nvSpPr>
        <p:spPr>
          <a:xfrm>
            <a:off x="6126480" y="3063240"/>
            <a:ext cx="5257800" cy="1417320"/>
          </a:xfrm>
          <a:prstGeom prst="roundRect">
            <a:avLst>
              <a:gd name="adj" fmla="val 3871"/>
            </a:avLst>
          </a:prstGeom>
          <a:solidFill>
            <a:srgbClr val="141A33"/>
          </a:solidFill>
          <a:ln w="12700">
            <a:solidFill>
              <a:srgbClr val="232B52"/>
            </a:solidFill>
            <a:prstDash val="solid"/>
          </a:ln>
        </p:spPr>
      </p:sp>
      <p:sp>
        <p:nvSpPr>
          <p:cNvPr id="19" name="Shape 17"/>
          <p:cNvSpPr/>
          <p:nvPr/>
        </p:nvSpPr>
        <p:spPr>
          <a:xfrm>
            <a:off x="6355080" y="3319272"/>
            <a:ext cx="502920" cy="502920"/>
          </a:xfrm>
          <a:prstGeom prst="ellipse">
            <a:avLst/>
          </a:prstGeom>
          <a:solidFill>
            <a:srgbClr val="5E8CFF"/>
          </a:solidFill>
          <a:ln/>
        </p:spPr>
      </p:sp>
      <p:sp>
        <p:nvSpPr>
          <p:cNvPr id="20" name="Text 18"/>
          <p:cNvSpPr/>
          <p:nvPr/>
        </p:nvSpPr>
        <p:spPr>
          <a:xfrm>
            <a:off x="6355080" y="3319272"/>
            <a:ext cx="502920" cy="5029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04</a:t>
            </a:r>
            <a:endParaRPr lang="en-US" sz="1300" dirty="0"/>
          </a:p>
        </p:txBody>
      </p:sp>
      <p:sp>
        <p:nvSpPr>
          <p:cNvPr id="21" name="Text 19"/>
          <p:cNvSpPr/>
          <p:nvPr/>
        </p:nvSpPr>
        <p:spPr>
          <a:xfrm>
            <a:off x="7040880" y="3246120"/>
            <a:ext cx="416052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Channels</a:t>
            </a:r>
            <a:endParaRPr lang="en-US" sz="1500" dirty="0"/>
          </a:p>
        </p:txBody>
      </p:sp>
      <p:sp>
        <p:nvSpPr>
          <p:cNvPr id="22" name="Text 20"/>
          <p:cNvSpPr/>
          <p:nvPr/>
        </p:nvSpPr>
        <p:spPr>
          <a:xfrm>
            <a:off x="7040880" y="3630168"/>
            <a:ext cx="4160520" cy="731520"/>
          </a:xfrm>
          <a:prstGeom prst="rect">
            <a:avLst/>
          </a:prstGeom>
          <a:noFill/>
          <a:ln/>
        </p:spPr>
        <p:txBody>
          <a:bodyPr wrap="square" rtlCol="0" anchor="ctr"/>
          <a:lstStyle/>
          <a:p>
            <a:pPr indent="0" marL="0">
              <a:lnSpc>
                <a:spcPct val="120000"/>
              </a:lnSpc>
              <a:buNone/>
            </a:pPr>
            <a:r>
              <a:rPr lang="en-US" sz="1100" dirty="0">
                <a:solidFill>
                  <a:srgbClr val="8B93B8"/>
                </a:solidFill>
                <a:latin typeface="Arial" pitchFamily="34" charset="0"/>
                <a:ea typeface="Arial" pitchFamily="34" charset="-122"/>
                <a:cs typeface="Arial" pitchFamily="34" charset="-120"/>
              </a:rPr>
              <a:t>Local walk-in and trade versus export parcels</a:t>
            </a:r>
            <a:endParaRPr lang="en-US" sz="1100" dirty="0"/>
          </a:p>
        </p:txBody>
      </p:sp>
      <p:sp>
        <p:nvSpPr>
          <p:cNvPr id="23" name="Shape 21"/>
          <p:cNvSpPr/>
          <p:nvPr/>
        </p:nvSpPr>
        <p:spPr>
          <a:xfrm>
            <a:off x="548640" y="4709160"/>
            <a:ext cx="5257800" cy="1417320"/>
          </a:xfrm>
          <a:prstGeom prst="roundRect">
            <a:avLst>
              <a:gd name="adj" fmla="val 3871"/>
            </a:avLst>
          </a:prstGeom>
          <a:solidFill>
            <a:srgbClr val="141A33"/>
          </a:solidFill>
          <a:ln w="12700">
            <a:solidFill>
              <a:srgbClr val="232B52"/>
            </a:solidFill>
            <a:prstDash val="solid"/>
          </a:ln>
        </p:spPr>
      </p:sp>
      <p:sp>
        <p:nvSpPr>
          <p:cNvPr id="24" name="Shape 22"/>
          <p:cNvSpPr/>
          <p:nvPr/>
        </p:nvSpPr>
        <p:spPr>
          <a:xfrm>
            <a:off x="777240" y="4965192"/>
            <a:ext cx="502920" cy="502920"/>
          </a:xfrm>
          <a:prstGeom prst="ellipse">
            <a:avLst/>
          </a:prstGeom>
          <a:solidFill>
            <a:srgbClr val="5E8CFF"/>
          </a:solidFill>
          <a:ln/>
        </p:spPr>
      </p:sp>
      <p:sp>
        <p:nvSpPr>
          <p:cNvPr id="25" name="Text 23"/>
          <p:cNvSpPr/>
          <p:nvPr/>
        </p:nvSpPr>
        <p:spPr>
          <a:xfrm>
            <a:off x="777240" y="4965192"/>
            <a:ext cx="502920" cy="5029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05</a:t>
            </a:r>
            <a:endParaRPr lang="en-US" sz="1300" dirty="0"/>
          </a:p>
        </p:txBody>
      </p:sp>
      <p:sp>
        <p:nvSpPr>
          <p:cNvPr id="26" name="Text 24"/>
          <p:cNvSpPr/>
          <p:nvPr/>
        </p:nvSpPr>
        <p:spPr>
          <a:xfrm>
            <a:off x="1463040" y="4892040"/>
            <a:ext cx="416052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Concentration</a:t>
            </a:r>
            <a:endParaRPr lang="en-US" sz="1500" dirty="0"/>
          </a:p>
        </p:txBody>
      </p:sp>
      <p:sp>
        <p:nvSpPr>
          <p:cNvPr id="27" name="Text 25"/>
          <p:cNvSpPr/>
          <p:nvPr/>
        </p:nvSpPr>
        <p:spPr>
          <a:xfrm>
            <a:off x="1463040" y="5276088"/>
            <a:ext cx="4160520" cy="731520"/>
          </a:xfrm>
          <a:prstGeom prst="rect">
            <a:avLst/>
          </a:prstGeom>
          <a:noFill/>
          <a:ln/>
        </p:spPr>
        <p:txBody>
          <a:bodyPr wrap="square" rtlCol="0" anchor="ctr"/>
          <a:lstStyle/>
          <a:p>
            <a:pPr indent="0" marL="0">
              <a:lnSpc>
                <a:spcPct val="120000"/>
              </a:lnSpc>
              <a:buNone/>
            </a:pPr>
            <a:r>
              <a:rPr lang="en-US" sz="1100" dirty="0">
                <a:solidFill>
                  <a:srgbClr val="8B93B8"/>
                </a:solidFill>
                <a:latin typeface="Arial" pitchFamily="34" charset="0"/>
                <a:ea typeface="Arial" pitchFamily="34" charset="-122"/>
                <a:cs typeface="Arial" pitchFamily="34" charset="-120"/>
              </a:rPr>
              <a:t>How much of revenue a handful of SKUs carries</a:t>
            </a:r>
            <a:endParaRPr lang="en-US" sz="1100" dirty="0"/>
          </a:p>
        </p:txBody>
      </p:sp>
      <p:sp>
        <p:nvSpPr>
          <p:cNvPr id="28" name="Shape 26"/>
          <p:cNvSpPr/>
          <p:nvPr/>
        </p:nvSpPr>
        <p:spPr>
          <a:xfrm>
            <a:off x="6126480" y="4709160"/>
            <a:ext cx="5257800" cy="1417320"/>
          </a:xfrm>
          <a:prstGeom prst="roundRect">
            <a:avLst>
              <a:gd name="adj" fmla="val 3871"/>
            </a:avLst>
          </a:prstGeom>
          <a:solidFill>
            <a:srgbClr val="141A33"/>
          </a:solidFill>
          <a:ln w="12700">
            <a:solidFill>
              <a:srgbClr val="232B52"/>
            </a:solidFill>
            <a:prstDash val="solid"/>
          </a:ln>
        </p:spPr>
      </p:sp>
      <p:sp>
        <p:nvSpPr>
          <p:cNvPr id="29" name="Shape 27"/>
          <p:cNvSpPr/>
          <p:nvPr/>
        </p:nvSpPr>
        <p:spPr>
          <a:xfrm>
            <a:off x="6355080" y="4965192"/>
            <a:ext cx="502920" cy="502920"/>
          </a:xfrm>
          <a:prstGeom prst="ellipse">
            <a:avLst/>
          </a:prstGeom>
          <a:solidFill>
            <a:srgbClr val="5E8CFF"/>
          </a:solidFill>
          <a:ln/>
        </p:spPr>
      </p:sp>
      <p:sp>
        <p:nvSpPr>
          <p:cNvPr id="30" name="Text 28"/>
          <p:cNvSpPr/>
          <p:nvPr/>
        </p:nvSpPr>
        <p:spPr>
          <a:xfrm>
            <a:off x="6355080" y="4965192"/>
            <a:ext cx="502920" cy="50292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06</a:t>
            </a:r>
            <a:endParaRPr lang="en-US" sz="1300" dirty="0"/>
          </a:p>
        </p:txBody>
      </p:sp>
      <p:sp>
        <p:nvSpPr>
          <p:cNvPr id="31" name="Text 29"/>
          <p:cNvSpPr/>
          <p:nvPr/>
        </p:nvSpPr>
        <p:spPr>
          <a:xfrm>
            <a:off x="7040880" y="4892040"/>
            <a:ext cx="416052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Operating context</a:t>
            </a:r>
            <a:endParaRPr lang="en-US" sz="1500" dirty="0"/>
          </a:p>
        </p:txBody>
      </p:sp>
      <p:sp>
        <p:nvSpPr>
          <p:cNvPr id="32" name="Text 30"/>
          <p:cNvSpPr/>
          <p:nvPr/>
        </p:nvSpPr>
        <p:spPr>
          <a:xfrm>
            <a:off x="7040880" y="5276088"/>
            <a:ext cx="4160520" cy="731520"/>
          </a:xfrm>
          <a:prstGeom prst="rect">
            <a:avLst/>
          </a:prstGeom>
          <a:noFill/>
          <a:ln/>
        </p:spPr>
        <p:txBody>
          <a:bodyPr wrap="square" rtlCol="0" anchor="ctr"/>
          <a:lstStyle/>
          <a:p>
            <a:pPr indent="0" marL="0">
              <a:lnSpc>
                <a:spcPct val="120000"/>
              </a:lnSpc>
              <a:buNone/>
            </a:pPr>
            <a:r>
              <a:rPr lang="en-US" sz="1100" dirty="0">
                <a:solidFill>
                  <a:srgbClr val="8B93B8"/>
                </a:solidFill>
                <a:latin typeface="Arial" pitchFamily="34" charset="0"/>
                <a:ea typeface="Arial" pitchFamily="34" charset="-122"/>
                <a:cs typeface="Arial" pitchFamily="34" charset="-120"/>
              </a:rPr>
              <a:t>Foot traffic, enquiries and this month's campaigns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F"/>
        </a:solidFill>
      </p:bgPr>
    </p:bg>
    <p:spTree>
      <p:nvGrpSpPr>
        <p:cNvPr id="1" name=""/>
        <p:cNvGrpSpPr/>
        <p:nvPr/>
      </p:nvGrpSpPr>
      <p:grpSpPr>
        <a:xfrm>
          <a:off x="0" y="0"/>
          <a:ext cx="0" cy="0"/>
          <a:chOff x="0" y="0"/>
          <a:chExt cx="0" cy="0"/>
        </a:xfrm>
      </p:grpSpPr>
      <p:sp>
        <p:nvSpPr>
          <p:cNvPr id="2" name="Text 0"/>
          <p:cNvSpPr/>
          <p:nvPr/>
        </p:nvSpPr>
        <p:spPr>
          <a:xfrm>
            <a:off x="457200" y="182880"/>
            <a:ext cx="11247120" cy="274320"/>
          </a:xfrm>
          <a:prstGeom prst="rect">
            <a:avLst/>
          </a:prstGeom>
          <a:noFill/>
          <a:ln/>
        </p:spPr>
        <p:txBody>
          <a:bodyPr wrap="square" rtlCol="0" anchor="ctr"/>
          <a:lstStyle/>
          <a:p>
            <a:pPr indent="0" marL="0">
              <a:buNone/>
            </a:pPr>
            <a:r>
              <a:rPr lang="en-US" sz="1100" b="1" spc="100" kern="0" dirty="0">
                <a:solidFill>
                  <a:srgbClr val="5E8CFF"/>
                </a:solidFill>
                <a:latin typeface="Arial" pitchFamily="34" charset="0"/>
                <a:ea typeface="Arial" pitchFamily="34" charset="-122"/>
                <a:cs typeface="Arial" pitchFamily="34" charset="-120"/>
              </a:rPr>
              <a:t>01  ·  Overview</a:t>
            </a:r>
            <a:endParaRPr lang="en-US" sz="1100" dirty="0"/>
          </a:p>
        </p:txBody>
      </p:sp>
      <p:sp>
        <p:nvSpPr>
          <p:cNvPr id="3" name="Text 1"/>
          <p:cNvSpPr/>
          <p:nvPr/>
        </p:nvSpPr>
        <p:spPr>
          <a:xfrm>
            <a:off x="457200" y="530352"/>
            <a:ext cx="1124712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Jan 2026: NZ$88,500.04 across 521 orders, average order NZ$169.87</a:t>
            </a:r>
            <a:endParaRPr lang="en-US" sz="2400" dirty="0"/>
          </a:p>
        </p:txBody>
      </p:sp>
      <p:sp>
        <p:nvSpPr>
          <p:cNvPr id="4" name="Text 2"/>
          <p:cNvSpPr/>
          <p:nvPr/>
        </p:nvSpPr>
        <p:spPr>
          <a:xfrm>
            <a:off x="457200" y="987552"/>
            <a:ext cx="11247120" cy="384048"/>
          </a:xfrm>
          <a:prstGeom prst="rect">
            <a:avLst/>
          </a:prstGeom>
          <a:noFill/>
          <a:ln/>
        </p:spPr>
        <p:txBody>
          <a:bodyPr wrap="square" rtlCol="0" anchor="ctr"/>
          <a:lstStyle/>
          <a:p>
            <a:pPr indent="0" marL="0">
              <a:buNone/>
            </a:pPr>
            <a:r>
              <a:rPr lang="en-US" sz="1300" dirty="0">
                <a:solidFill>
                  <a:srgbClr val="8B93B8"/>
                </a:solidFill>
                <a:latin typeface="Arial" pitchFamily="34" charset="0"/>
                <a:ea typeface="Arial" pitchFamily="34" charset="-122"/>
                <a:cs typeface="Arial" pitchFamily="34" charset="-120"/>
              </a:rPr>
              <a:t>Average order value $170</a:t>
            </a:r>
            <a:endParaRPr lang="en-US" sz="1300" dirty="0"/>
          </a:p>
        </p:txBody>
      </p:sp>
      <p:sp>
        <p:nvSpPr>
          <p:cNvPr id="5" name="Shape 3"/>
          <p:cNvSpPr/>
          <p:nvPr/>
        </p:nvSpPr>
        <p:spPr>
          <a:xfrm>
            <a:off x="457200" y="950976"/>
            <a:ext cx="1005840" cy="32004"/>
          </a:xfrm>
          <a:prstGeom prst="rect">
            <a:avLst/>
          </a:prstGeom>
          <a:solidFill>
            <a:srgbClr val="5E8CFF"/>
          </a:solidFill>
          <a:ln w="12700">
            <a:solidFill>
              <a:srgbClr val="333333"/>
            </a:solidFill>
            <a:prstDash val="solid"/>
          </a:ln>
        </p:spPr>
      </p:sp>
      <p:pic>
        <p:nvPicPr>
          <p:cNvPr id="6" name="Image 0" descr="/Users/xiangruhe/Desktop/retail-report-pipeline/data/work/chart_headline.png">    </p:cNvPr>
          <p:cNvPicPr>
            <a:picLocks noChangeAspect="1"/>
          </p:cNvPicPr>
          <p:nvPr/>
        </p:nvPicPr>
        <p:blipFill>
          <a:blip r:embed="rId1"/>
          <a:stretch>
            <a:fillRect/>
          </a:stretch>
        </p:blipFill>
        <p:spPr>
          <a:xfrm>
            <a:off x="384048" y="1417320"/>
            <a:ext cx="11430000" cy="4572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F"/>
        </a:solidFill>
      </p:bgPr>
    </p:bg>
    <p:spTree>
      <p:nvGrpSpPr>
        <p:cNvPr id="1" name=""/>
        <p:cNvGrpSpPr/>
        <p:nvPr/>
      </p:nvGrpSpPr>
      <p:grpSpPr>
        <a:xfrm>
          <a:off x="0" y="0"/>
          <a:ext cx="0" cy="0"/>
          <a:chOff x="0" y="0"/>
          <a:chExt cx="0" cy="0"/>
        </a:xfrm>
      </p:grpSpPr>
      <p:sp>
        <p:nvSpPr>
          <p:cNvPr id="2" name="Text 0"/>
          <p:cNvSpPr/>
          <p:nvPr/>
        </p:nvSpPr>
        <p:spPr>
          <a:xfrm>
            <a:off x="457200" y="182880"/>
            <a:ext cx="11247120" cy="274320"/>
          </a:xfrm>
          <a:prstGeom prst="rect">
            <a:avLst/>
          </a:prstGeom>
          <a:noFill/>
          <a:ln/>
        </p:spPr>
        <p:txBody>
          <a:bodyPr wrap="square" rtlCol="0" anchor="ctr"/>
          <a:lstStyle/>
          <a:p>
            <a:pPr indent="0" marL="0">
              <a:buNone/>
            </a:pPr>
            <a:r>
              <a:rPr lang="en-US" sz="1100" b="1" spc="100" kern="0" dirty="0">
                <a:solidFill>
                  <a:srgbClr val="5E8CFF"/>
                </a:solidFill>
                <a:latin typeface="Arial" pitchFamily="34" charset="0"/>
                <a:ea typeface="Arial" pitchFamily="34" charset="-122"/>
                <a:cs typeface="Arial" pitchFamily="34" charset="-120"/>
              </a:rPr>
              <a:t>02  ·  Monthly trend</a:t>
            </a:r>
            <a:endParaRPr lang="en-US" sz="1100" dirty="0"/>
          </a:p>
        </p:txBody>
      </p:sp>
      <p:sp>
        <p:nvSpPr>
          <p:cNvPr id="3" name="Text 1"/>
          <p:cNvSpPr/>
          <p:nvPr/>
        </p:nvSpPr>
        <p:spPr>
          <a:xfrm>
            <a:off x="457200" y="530352"/>
            <a:ext cx="1124712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January stands alone in the trend at NZ$88,500.04 on 2,371 units</a:t>
            </a:r>
            <a:endParaRPr lang="en-US" sz="2400" dirty="0"/>
          </a:p>
        </p:txBody>
      </p:sp>
      <p:sp>
        <p:nvSpPr>
          <p:cNvPr id="4" name="Text 2"/>
          <p:cNvSpPr/>
          <p:nvPr/>
        </p:nvSpPr>
        <p:spPr>
          <a:xfrm>
            <a:off x="457200" y="987552"/>
            <a:ext cx="11247120" cy="384048"/>
          </a:xfrm>
          <a:prstGeom prst="rect">
            <a:avLst/>
          </a:prstGeom>
          <a:noFill/>
          <a:ln/>
        </p:spPr>
        <p:txBody>
          <a:bodyPr wrap="square" rtlCol="0" anchor="ctr"/>
          <a:lstStyle/>
          <a:p>
            <a:pPr indent="0" marL="0">
              <a:buNone/>
            </a:pPr>
            <a:r>
              <a:rPr lang="en-US" sz="1300" dirty="0">
                <a:solidFill>
                  <a:srgbClr val="8B93B8"/>
                </a:solidFill>
                <a:latin typeface="Arial" pitchFamily="34" charset="0"/>
                <a:ea typeface="Arial" pitchFamily="34" charset="-122"/>
                <a:cs typeface="Arial" pitchFamily="34" charset="-120"/>
              </a:rPr>
              <a:t>Jan 2026 – Jan 2026 · premium / milk powder / regular, stacked (NZD)</a:t>
            </a:r>
            <a:endParaRPr lang="en-US" sz="1300" dirty="0"/>
          </a:p>
        </p:txBody>
      </p:sp>
      <p:sp>
        <p:nvSpPr>
          <p:cNvPr id="5" name="Shape 3"/>
          <p:cNvSpPr/>
          <p:nvPr/>
        </p:nvSpPr>
        <p:spPr>
          <a:xfrm>
            <a:off x="457200" y="950976"/>
            <a:ext cx="1005840" cy="32004"/>
          </a:xfrm>
          <a:prstGeom prst="rect">
            <a:avLst/>
          </a:prstGeom>
          <a:solidFill>
            <a:srgbClr val="5E8CFF"/>
          </a:solidFill>
          <a:ln w="12700">
            <a:solidFill>
              <a:srgbClr val="333333"/>
            </a:solidFill>
            <a:prstDash val="solid"/>
          </a:ln>
        </p:spPr>
      </p:sp>
      <p:pic>
        <p:nvPicPr>
          <p:cNvPr id="6" name="Image 0" descr="/Users/xiangruhe/Desktop/retail-report-pipeline/data/work/chart_trend_amount.png">    </p:cNvPr>
          <p:cNvPicPr>
            <a:picLocks noChangeAspect="1"/>
          </p:cNvPicPr>
          <p:nvPr/>
        </p:nvPicPr>
        <p:blipFill>
          <a:blip r:embed="rId1"/>
          <a:stretch>
            <a:fillRect/>
          </a:stretch>
        </p:blipFill>
        <p:spPr>
          <a:xfrm>
            <a:off x="2148840" y="1417320"/>
            <a:ext cx="7863840" cy="47548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F"/>
        </a:solidFill>
      </p:bgPr>
    </p:bg>
    <p:spTree>
      <p:nvGrpSpPr>
        <p:cNvPr id="1" name=""/>
        <p:cNvGrpSpPr/>
        <p:nvPr/>
      </p:nvGrpSpPr>
      <p:grpSpPr>
        <a:xfrm>
          <a:off x="0" y="0"/>
          <a:ext cx="0" cy="0"/>
          <a:chOff x="0" y="0"/>
          <a:chExt cx="0" cy="0"/>
        </a:xfrm>
      </p:grpSpPr>
      <p:sp>
        <p:nvSpPr>
          <p:cNvPr id="2" name="Text 0"/>
          <p:cNvSpPr/>
          <p:nvPr/>
        </p:nvSpPr>
        <p:spPr>
          <a:xfrm>
            <a:off x="457200" y="182880"/>
            <a:ext cx="11247120" cy="274320"/>
          </a:xfrm>
          <a:prstGeom prst="rect">
            <a:avLst/>
          </a:prstGeom>
          <a:noFill/>
          <a:ln/>
        </p:spPr>
        <p:txBody>
          <a:bodyPr wrap="square" rtlCol="0" anchor="ctr"/>
          <a:lstStyle/>
          <a:p>
            <a:pPr indent="0" marL="0">
              <a:buNone/>
            </a:pPr>
            <a:r>
              <a:rPr lang="en-US" sz="1100" b="1" spc="100" kern="0" dirty="0">
                <a:solidFill>
                  <a:srgbClr val="5E8CFF"/>
                </a:solidFill>
                <a:latin typeface="Arial" pitchFamily="34" charset="0"/>
                <a:ea typeface="Arial" pitchFamily="34" charset="-122"/>
                <a:cs typeface="Arial" pitchFamily="34" charset="-120"/>
              </a:rPr>
              <a:t>02  ·  Monthly trend</a:t>
            </a:r>
            <a:endParaRPr lang="en-US" sz="1100" dirty="0"/>
          </a:p>
        </p:txBody>
      </p:sp>
      <p:sp>
        <p:nvSpPr>
          <p:cNvPr id="3" name="Text 1"/>
          <p:cNvSpPr/>
          <p:nvPr/>
        </p:nvSpPr>
        <p:spPr>
          <a:xfrm>
            <a:off x="457200" y="530352"/>
            <a:ext cx="1124712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Premium accounts for 1,191 of the 2,371 units sold in January</a:t>
            </a:r>
            <a:endParaRPr lang="en-US" sz="2400" dirty="0"/>
          </a:p>
        </p:txBody>
      </p:sp>
      <p:sp>
        <p:nvSpPr>
          <p:cNvPr id="4" name="Text 2"/>
          <p:cNvSpPr/>
          <p:nvPr/>
        </p:nvSpPr>
        <p:spPr>
          <a:xfrm>
            <a:off x="457200" y="987552"/>
            <a:ext cx="11247120" cy="384048"/>
          </a:xfrm>
          <a:prstGeom prst="rect">
            <a:avLst/>
          </a:prstGeom>
          <a:noFill/>
          <a:ln/>
        </p:spPr>
        <p:txBody>
          <a:bodyPr wrap="square" rtlCol="0" anchor="ctr"/>
          <a:lstStyle/>
          <a:p>
            <a:pPr indent="0" marL="0">
              <a:buNone/>
            </a:pPr>
            <a:r>
              <a:rPr lang="en-US" sz="1300" dirty="0">
                <a:solidFill>
                  <a:srgbClr val="8B93B8"/>
                </a:solidFill>
                <a:latin typeface="Arial" pitchFamily="34" charset="0"/>
                <a:ea typeface="Arial" pitchFamily="34" charset="-122"/>
                <a:cs typeface="Arial" pitchFamily="34" charset="-120"/>
              </a:rPr>
              <a:t>Same three groups by units, so volume can be read separately from value</a:t>
            </a:r>
            <a:endParaRPr lang="en-US" sz="1300" dirty="0"/>
          </a:p>
        </p:txBody>
      </p:sp>
      <p:sp>
        <p:nvSpPr>
          <p:cNvPr id="5" name="Shape 3"/>
          <p:cNvSpPr/>
          <p:nvPr/>
        </p:nvSpPr>
        <p:spPr>
          <a:xfrm>
            <a:off x="457200" y="950976"/>
            <a:ext cx="1005840" cy="32004"/>
          </a:xfrm>
          <a:prstGeom prst="rect">
            <a:avLst/>
          </a:prstGeom>
          <a:solidFill>
            <a:srgbClr val="5E8CFF"/>
          </a:solidFill>
          <a:ln w="12700">
            <a:solidFill>
              <a:srgbClr val="333333"/>
            </a:solidFill>
            <a:prstDash val="solid"/>
          </a:ln>
        </p:spPr>
      </p:sp>
      <p:pic>
        <p:nvPicPr>
          <p:cNvPr id="6" name="Image 0" descr="/Users/xiangruhe/Desktop/retail-report-pipeline/data/work/chart_trend_qty.png">    </p:cNvPr>
          <p:cNvPicPr>
            <a:picLocks noChangeAspect="1"/>
          </p:cNvPicPr>
          <p:nvPr/>
        </p:nvPicPr>
        <p:blipFill>
          <a:blip r:embed="rId1"/>
          <a:stretch>
            <a:fillRect/>
          </a:stretch>
        </p:blipFill>
        <p:spPr>
          <a:xfrm>
            <a:off x="2148840" y="1417320"/>
            <a:ext cx="7863840" cy="47548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F"/>
        </a:solidFill>
      </p:bgPr>
    </p:bg>
    <p:spTree>
      <p:nvGrpSpPr>
        <p:cNvPr id="1" name=""/>
        <p:cNvGrpSpPr/>
        <p:nvPr/>
      </p:nvGrpSpPr>
      <p:grpSpPr>
        <a:xfrm>
          <a:off x="0" y="0"/>
          <a:ext cx="0" cy="0"/>
          <a:chOff x="0" y="0"/>
          <a:chExt cx="0" cy="0"/>
        </a:xfrm>
      </p:grpSpPr>
      <p:sp>
        <p:nvSpPr>
          <p:cNvPr id="2" name="Text 0"/>
          <p:cNvSpPr/>
          <p:nvPr/>
        </p:nvSpPr>
        <p:spPr>
          <a:xfrm>
            <a:off x="457200" y="182880"/>
            <a:ext cx="11247120" cy="274320"/>
          </a:xfrm>
          <a:prstGeom prst="rect">
            <a:avLst/>
          </a:prstGeom>
          <a:noFill/>
          <a:ln/>
        </p:spPr>
        <p:txBody>
          <a:bodyPr wrap="square" rtlCol="0" anchor="ctr"/>
          <a:lstStyle/>
          <a:p>
            <a:pPr indent="0" marL="0">
              <a:buNone/>
            </a:pPr>
            <a:r>
              <a:rPr lang="en-US" sz="1100" b="1" spc="100" kern="0" dirty="0">
                <a:solidFill>
                  <a:srgbClr val="5E8CFF"/>
                </a:solidFill>
                <a:latin typeface="Arial" pitchFamily="34" charset="0"/>
                <a:ea typeface="Arial" pitchFamily="34" charset="-122"/>
                <a:cs typeface="Arial" pitchFamily="34" charset="-120"/>
              </a:rPr>
              <a:t>03  ·  Product structure</a:t>
            </a:r>
            <a:endParaRPr lang="en-US" sz="1100" dirty="0"/>
          </a:p>
        </p:txBody>
      </p:sp>
      <p:sp>
        <p:nvSpPr>
          <p:cNvPr id="3" name="Text 1"/>
          <p:cNvSpPr/>
          <p:nvPr/>
        </p:nvSpPr>
        <p:spPr>
          <a:xfrm>
            <a:off x="457200" y="530352"/>
            <a:ext cx="1124712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Premium range at NZ$41,785.60, or 47.2% of store revenue</a:t>
            </a:r>
            <a:endParaRPr lang="en-US" sz="2400" dirty="0"/>
          </a:p>
        </p:txBody>
      </p:sp>
      <p:sp>
        <p:nvSpPr>
          <p:cNvPr id="4" name="Text 2"/>
          <p:cNvSpPr/>
          <p:nvPr/>
        </p:nvSpPr>
        <p:spPr>
          <a:xfrm>
            <a:off x="457200" y="987552"/>
            <a:ext cx="11247120" cy="384048"/>
          </a:xfrm>
          <a:prstGeom prst="rect">
            <a:avLst/>
          </a:prstGeom>
          <a:noFill/>
          <a:ln/>
        </p:spPr>
        <p:txBody>
          <a:bodyPr wrap="square" rtlCol="0" anchor="ctr"/>
          <a:lstStyle/>
          <a:p>
            <a:pPr indent="0" marL="0">
              <a:buNone/>
            </a:pPr>
            <a:r>
              <a:rPr lang="en-US" sz="1300" dirty="0">
                <a:solidFill>
                  <a:srgbClr val="8B93B8"/>
                </a:solidFill>
                <a:latin typeface="Arial" pitchFamily="34" charset="0"/>
                <a:ea typeface="Arial" pitchFamily="34" charset="-122"/>
                <a:cs typeface="Arial" pitchFamily="34" charset="-120"/>
              </a:rPr>
              <a:t>The range the store is putting in front of customers, before the detail</a:t>
            </a:r>
            <a:endParaRPr lang="en-US" sz="1300" dirty="0"/>
          </a:p>
        </p:txBody>
      </p:sp>
      <p:sp>
        <p:nvSpPr>
          <p:cNvPr id="5" name="Shape 3"/>
          <p:cNvSpPr/>
          <p:nvPr/>
        </p:nvSpPr>
        <p:spPr>
          <a:xfrm>
            <a:off x="457200" y="950976"/>
            <a:ext cx="1005840" cy="32004"/>
          </a:xfrm>
          <a:prstGeom prst="rect">
            <a:avLst/>
          </a:prstGeom>
          <a:solidFill>
            <a:srgbClr val="5E8CFF"/>
          </a:solidFill>
          <a:ln w="12700">
            <a:solidFill>
              <a:srgbClr val="333333"/>
            </a:solidFill>
            <a:prstDash val="solid"/>
          </a:ln>
        </p:spPr>
      </p:sp>
      <p:pic>
        <p:nvPicPr>
          <p:cNvPr id="6" name="Image 0" descr="/Users/xiangruhe/Desktop/retail-report-pipeline/data/work/chart_structure_intro.png">    </p:cNvPr>
          <p:cNvPicPr>
            <a:picLocks noChangeAspect="1"/>
          </p:cNvPicPr>
          <p:nvPr/>
        </p:nvPicPr>
        <p:blipFill>
          <a:blip r:embed="rId1"/>
          <a:stretch>
            <a:fillRect/>
          </a:stretch>
        </p:blipFill>
        <p:spPr>
          <a:xfrm>
            <a:off x="384048" y="1920240"/>
            <a:ext cx="11430000" cy="2651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F"/>
        </a:solidFill>
      </p:bgPr>
    </p:bg>
    <p:spTree>
      <p:nvGrpSpPr>
        <p:cNvPr id="1" name=""/>
        <p:cNvGrpSpPr/>
        <p:nvPr/>
      </p:nvGrpSpPr>
      <p:grpSpPr>
        <a:xfrm>
          <a:off x="0" y="0"/>
          <a:ext cx="0" cy="0"/>
          <a:chOff x="0" y="0"/>
          <a:chExt cx="0" cy="0"/>
        </a:xfrm>
      </p:grpSpPr>
      <p:sp>
        <p:nvSpPr>
          <p:cNvPr id="2" name="Text 0"/>
          <p:cNvSpPr/>
          <p:nvPr/>
        </p:nvSpPr>
        <p:spPr>
          <a:xfrm>
            <a:off x="457200" y="182880"/>
            <a:ext cx="11247120" cy="274320"/>
          </a:xfrm>
          <a:prstGeom prst="rect">
            <a:avLst/>
          </a:prstGeom>
          <a:noFill/>
          <a:ln/>
        </p:spPr>
        <p:txBody>
          <a:bodyPr wrap="square" rtlCol="0" anchor="ctr"/>
          <a:lstStyle/>
          <a:p>
            <a:pPr indent="0" marL="0">
              <a:buNone/>
            </a:pPr>
            <a:r>
              <a:rPr lang="en-US" sz="1100" b="1" spc="100" kern="0" dirty="0">
                <a:solidFill>
                  <a:srgbClr val="5E8CFF"/>
                </a:solidFill>
                <a:latin typeface="Arial" pitchFamily="34" charset="0"/>
                <a:ea typeface="Arial" pitchFamily="34" charset="-122"/>
                <a:cs typeface="Arial" pitchFamily="34" charset="-120"/>
              </a:rPr>
              <a:t>03  ·  Product structure</a:t>
            </a:r>
            <a:endParaRPr lang="en-US" sz="1100" dirty="0"/>
          </a:p>
        </p:txBody>
      </p:sp>
      <p:sp>
        <p:nvSpPr>
          <p:cNvPr id="3" name="Text 1"/>
          <p:cNvSpPr/>
          <p:nvPr/>
        </p:nvSpPr>
        <p:spPr>
          <a:xfrm>
            <a:off x="457200" y="530352"/>
            <a:ext cx="1124712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Supplements lead on both revenue (30.1%) and units (32.6%)</a:t>
            </a:r>
            <a:endParaRPr lang="en-US" sz="2400" dirty="0"/>
          </a:p>
        </p:txBody>
      </p:sp>
      <p:sp>
        <p:nvSpPr>
          <p:cNvPr id="4" name="Text 2"/>
          <p:cNvSpPr/>
          <p:nvPr/>
        </p:nvSpPr>
        <p:spPr>
          <a:xfrm>
            <a:off x="457200" y="987552"/>
            <a:ext cx="11247120" cy="384048"/>
          </a:xfrm>
          <a:prstGeom prst="rect">
            <a:avLst/>
          </a:prstGeom>
          <a:noFill/>
          <a:ln/>
        </p:spPr>
        <p:txBody>
          <a:bodyPr wrap="square" rtlCol="0" anchor="ctr"/>
          <a:lstStyle/>
          <a:p>
            <a:pPr indent="0" marL="0">
              <a:buNone/>
            </a:pPr>
            <a:r>
              <a:rPr lang="en-US" sz="1300" dirty="0">
                <a:solidFill>
                  <a:srgbClr val="8B93B8"/>
                </a:solidFill>
                <a:latin typeface="Arial" pitchFamily="34" charset="0"/>
                <a:ea typeface="Arial" pitchFamily="34" charset="-122"/>
                <a:cs typeface="Arial" pitchFamily="34" charset="-120"/>
              </a:rPr>
              <a:t>Revenue share and unit share side by side — the gap between the two is the unit-price effect</a:t>
            </a:r>
            <a:endParaRPr lang="en-US" sz="1300" dirty="0"/>
          </a:p>
        </p:txBody>
      </p:sp>
      <p:sp>
        <p:nvSpPr>
          <p:cNvPr id="5" name="Shape 3"/>
          <p:cNvSpPr/>
          <p:nvPr/>
        </p:nvSpPr>
        <p:spPr>
          <a:xfrm>
            <a:off x="457200" y="950976"/>
            <a:ext cx="1005840" cy="32004"/>
          </a:xfrm>
          <a:prstGeom prst="rect">
            <a:avLst/>
          </a:prstGeom>
          <a:solidFill>
            <a:srgbClr val="5E8CFF"/>
          </a:solidFill>
          <a:ln w="12700">
            <a:solidFill>
              <a:srgbClr val="333333"/>
            </a:solidFill>
            <a:prstDash val="solid"/>
          </a:ln>
        </p:spPr>
      </p:sp>
      <p:pic>
        <p:nvPicPr>
          <p:cNvPr id="6" name="Image 0" descr="/Users/xiangruhe/Desktop/retail-report-pipeline/data/work/chart_category_mix.png">    </p:cNvPr>
          <p:cNvPicPr>
            <a:picLocks noChangeAspect="1"/>
          </p:cNvPicPr>
          <p:nvPr/>
        </p:nvPicPr>
        <p:blipFill>
          <a:blip r:embed="rId1"/>
          <a:stretch>
            <a:fillRect/>
          </a:stretch>
        </p:blipFill>
        <p:spPr>
          <a:xfrm>
            <a:off x="182880" y="1280160"/>
            <a:ext cx="11841480" cy="43891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F"/>
        </a:solidFill>
      </p:bgPr>
    </p:bg>
    <p:spTree>
      <p:nvGrpSpPr>
        <p:cNvPr id="1" name=""/>
        <p:cNvGrpSpPr/>
        <p:nvPr/>
      </p:nvGrpSpPr>
      <p:grpSpPr>
        <a:xfrm>
          <a:off x="0" y="0"/>
          <a:ext cx="0" cy="0"/>
          <a:chOff x="0" y="0"/>
          <a:chExt cx="0" cy="0"/>
        </a:xfrm>
      </p:grpSpPr>
      <p:sp>
        <p:nvSpPr>
          <p:cNvPr id="2" name="Text 0"/>
          <p:cNvSpPr/>
          <p:nvPr/>
        </p:nvSpPr>
        <p:spPr>
          <a:xfrm>
            <a:off x="457200" y="182880"/>
            <a:ext cx="11247120" cy="274320"/>
          </a:xfrm>
          <a:prstGeom prst="rect">
            <a:avLst/>
          </a:prstGeom>
          <a:noFill/>
          <a:ln/>
        </p:spPr>
        <p:txBody>
          <a:bodyPr wrap="square" rtlCol="0" anchor="ctr"/>
          <a:lstStyle/>
          <a:p>
            <a:pPr indent="0" marL="0">
              <a:buNone/>
            </a:pPr>
            <a:r>
              <a:rPr lang="en-US" sz="1100" b="1" spc="100" kern="0" dirty="0">
                <a:solidFill>
                  <a:srgbClr val="5E8CFF"/>
                </a:solidFill>
                <a:latin typeface="Arial" pitchFamily="34" charset="0"/>
                <a:ea typeface="Arial" pitchFamily="34" charset="-122"/>
                <a:cs typeface="Arial" pitchFamily="34" charset="-120"/>
              </a:rPr>
              <a:t>03  ·  Product structure</a:t>
            </a:r>
            <a:endParaRPr lang="en-US" sz="1100" dirty="0"/>
          </a:p>
        </p:txBody>
      </p:sp>
      <p:sp>
        <p:nvSpPr>
          <p:cNvPr id="3" name="Text 1"/>
          <p:cNvSpPr/>
          <p:nvPr/>
        </p:nvSpPr>
        <p:spPr>
          <a:xfrm>
            <a:off x="457200" y="530352"/>
            <a:ext cx="1124712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Honey at 31.5% of premium revenue from 16.2% of premium units</a:t>
            </a:r>
            <a:endParaRPr lang="en-US" sz="2400" dirty="0"/>
          </a:p>
        </p:txBody>
      </p:sp>
      <p:sp>
        <p:nvSpPr>
          <p:cNvPr id="4" name="Text 2"/>
          <p:cNvSpPr/>
          <p:nvPr/>
        </p:nvSpPr>
        <p:spPr>
          <a:xfrm>
            <a:off x="457200" y="987552"/>
            <a:ext cx="11247120" cy="384048"/>
          </a:xfrm>
          <a:prstGeom prst="rect">
            <a:avLst/>
          </a:prstGeom>
          <a:noFill/>
          <a:ln/>
        </p:spPr>
        <p:txBody>
          <a:bodyPr wrap="square" rtlCol="0" anchor="ctr"/>
          <a:lstStyle/>
          <a:p>
            <a:pPr indent="0" marL="0">
              <a:buNone/>
            </a:pPr>
            <a:r>
              <a:rPr lang="en-US" sz="1300" dirty="0">
                <a:solidFill>
                  <a:srgbClr val="8B93B8"/>
                </a:solidFill>
                <a:latin typeface="Arial" pitchFamily="34" charset="0"/>
                <a:ea typeface="Arial" pitchFamily="34" charset="-122"/>
                <a:cs typeface="Arial" pitchFamily="34" charset="-120"/>
              </a:rPr>
              <a:t>Shares are within premium, not of the store — a different denominator from the previous slide</a:t>
            </a:r>
            <a:endParaRPr lang="en-US" sz="1300" dirty="0"/>
          </a:p>
        </p:txBody>
      </p:sp>
      <p:sp>
        <p:nvSpPr>
          <p:cNvPr id="5" name="Shape 3"/>
          <p:cNvSpPr/>
          <p:nvPr/>
        </p:nvSpPr>
        <p:spPr>
          <a:xfrm>
            <a:off x="457200" y="950976"/>
            <a:ext cx="1005840" cy="32004"/>
          </a:xfrm>
          <a:prstGeom prst="rect">
            <a:avLst/>
          </a:prstGeom>
          <a:solidFill>
            <a:srgbClr val="5E8CFF"/>
          </a:solidFill>
          <a:ln w="12700">
            <a:solidFill>
              <a:srgbClr val="333333"/>
            </a:solidFill>
            <a:prstDash val="solid"/>
          </a:ln>
        </p:spPr>
      </p:sp>
      <p:pic>
        <p:nvPicPr>
          <p:cNvPr id="6" name="Image 0" descr="/Users/xiangruhe/Desktop/retail-report-pipeline/data/work/chart_premium_mix.png">    </p:cNvPr>
          <p:cNvPicPr>
            <a:picLocks noChangeAspect="1"/>
          </p:cNvPicPr>
          <p:nvPr/>
        </p:nvPicPr>
        <p:blipFill>
          <a:blip r:embed="rId1"/>
          <a:stretch>
            <a:fillRect/>
          </a:stretch>
        </p:blipFill>
        <p:spPr>
          <a:xfrm>
            <a:off x="384048" y="1417320"/>
            <a:ext cx="11430000" cy="4572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F"/>
        </a:solidFill>
      </p:bgPr>
    </p:bg>
    <p:spTree>
      <p:nvGrpSpPr>
        <p:cNvPr id="1" name=""/>
        <p:cNvGrpSpPr/>
        <p:nvPr/>
      </p:nvGrpSpPr>
      <p:grpSpPr>
        <a:xfrm>
          <a:off x="0" y="0"/>
          <a:ext cx="0" cy="0"/>
          <a:chOff x="0" y="0"/>
          <a:chExt cx="0" cy="0"/>
        </a:xfrm>
      </p:grpSpPr>
      <p:sp>
        <p:nvSpPr>
          <p:cNvPr id="2" name="Text 0"/>
          <p:cNvSpPr/>
          <p:nvPr/>
        </p:nvSpPr>
        <p:spPr>
          <a:xfrm>
            <a:off x="457200" y="182880"/>
            <a:ext cx="11247120" cy="274320"/>
          </a:xfrm>
          <a:prstGeom prst="rect">
            <a:avLst/>
          </a:prstGeom>
          <a:noFill/>
          <a:ln/>
        </p:spPr>
        <p:txBody>
          <a:bodyPr wrap="square" rtlCol="0" anchor="ctr"/>
          <a:lstStyle/>
          <a:p>
            <a:pPr indent="0" marL="0">
              <a:buNone/>
            </a:pPr>
            <a:r>
              <a:rPr lang="en-US" sz="1100" b="1" spc="100" kern="0" dirty="0">
                <a:solidFill>
                  <a:srgbClr val="5E8CFF"/>
                </a:solidFill>
                <a:latin typeface="Arial" pitchFamily="34" charset="0"/>
                <a:ea typeface="Arial" pitchFamily="34" charset="-122"/>
                <a:cs typeface="Arial" pitchFamily="34" charset="-120"/>
              </a:rPr>
              <a:t>03  ·  Product structure</a:t>
            </a:r>
            <a:endParaRPr lang="en-US" sz="1100" dirty="0"/>
          </a:p>
        </p:txBody>
      </p:sp>
      <p:sp>
        <p:nvSpPr>
          <p:cNvPr id="3" name="Text 1"/>
          <p:cNvSpPr/>
          <p:nvPr/>
        </p:nvSpPr>
        <p:spPr>
          <a:xfrm>
            <a:off x="457200" y="530352"/>
            <a:ext cx="1124712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Three premium lines in the top 10 SKUs by units</a:t>
            </a:r>
            <a:endParaRPr lang="en-US" sz="2400" dirty="0"/>
          </a:p>
        </p:txBody>
      </p:sp>
      <p:sp>
        <p:nvSpPr>
          <p:cNvPr id="4" name="Text 2"/>
          <p:cNvSpPr/>
          <p:nvPr/>
        </p:nvSpPr>
        <p:spPr>
          <a:xfrm>
            <a:off x="457200" y="987552"/>
            <a:ext cx="11247120" cy="384048"/>
          </a:xfrm>
          <a:prstGeom prst="rect">
            <a:avLst/>
          </a:prstGeom>
          <a:noFill/>
          <a:ln/>
        </p:spPr>
        <p:txBody>
          <a:bodyPr wrap="square" rtlCol="0" anchor="ctr"/>
          <a:lstStyle/>
          <a:p>
            <a:pPr indent="0" marL="0">
              <a:buNone/>
            </a:pPr>
            <a:r>
              <a:rPr lang="en-US" sz="1300" dirty="0">
                <a:solidFill>
                  <a:srgbClr val="8B93B8"/>
                </a:solidFill>
                <a:latin typeface="Arial" pitchFamily="34" charset="0"/>
                <a:ea typeface="Arial" pitchFamily="34" charset="-122"/>
                <a:cs typeface="Arial" pitchFamily="34" charset="-120"/>
              </a:rPr>
              <a:t>Ranked by units sold</a:t>
            </a:r>
            <a:endParaRPr lang="en-US" sz="1300" dirty="0"/>
          </a:p>
        </p:txBody>
      </p:sp>
      <p:sp>
        <p:nvSpPr>
          <p:cNvPr id="5" name="Shape 3"/>
          <p:cNvSpPr/>
          <p:nvPr/>
        </p:nvSpPr>
        <p:spPr>
          <a:xfrm>
            <a:off x="457200" y="950976"/>
            <a:ext cx="1005840" cy="32004"/>
          </a:xfrm>
          <a:prstGeom prst="rect">
            <a:avLst/>
          </a:prstGeom>
          <a:solidFill>
            <a:srgbClr val="5E8CFF"/>
          </a:solidFill>
          <a:ln w="12700">
            <a:solidFill>
              <a:srgbClr val="333333"/>
            </a:solidFill>
            <a:prstDash val="solid"/>
          </a:ln>
        </p:spPr>
      </p:sp>
      <p:pic>
        <p:nvPicPr>
          <p:cNvPr id="6" name="Image 0" descr="/Users/xiangruhe/Desktop/retail-report-pipeline/data/work/chart_top_products.png">    </p:cNvPr>
          <p:cNvPicPr>
            <a:picLocks noChangeAspect="1"/>
          </p:cNvPicPr>
          <p:nvPr/>
        </p:nvPicPr>
        <p:blipFill>
          <a:blip r:embed="rId1"/>
          <a:stretch>
            <a:fillRect/>
          </a:stretch>
        </p:blipFill>
        <p:spPr>
          <a:xfrm>
            <a:off x="502920" y="1325880"/>
            <a:ext cx="11155680" cy="46634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F"/>
        </a:solidFill>
      </p:bgPr>
    </p:bg>
    <p:spTree>
      <p:nvGrpSpPr>
        <p:cNvPr id="1" name=""/>
        <p:cNvGrpSpPr/>
        <p:nvPr/>
      </p:nvGrpSpPr>
      <p:grpSpPr>
        <a:xfrm>
          <a:off x="0" y="0"/>
          <a:ext cx="0" cy="0"/>
          <a:chOff x="0" y="0"/>
          <a:chExt cx="0" cy="0"/>
        </a:xfrm>
      </p:grpSpPr>
      <p:sp>
        <p:nvSpPr>
          <p:cNvPr id="2" name="Text 0"/>
          <p:cNvSpPr/>
          <p:nvPr/>
        </p:nvSpPr>
        <p:spPr>
          <a:xfrm>
            <a:off x="457200" y="182880"/>
            <a:ext cx="11247120" cy="274320"/>
          </a:xfrm>
          <a:prstGeom prst="rect">
            <a:avLst/>
          </a:prstGeom>
          <a:noFill/>
          <a:ln/>
        </p:spPr>
        <p:txBody>
          <a:bodyPr wrap="square" rtlCol="0" anchor="ctr"/>
          <a:lstStyle/>
          <a:p>
            <a:pPr indent="0" marL="0">
              <a:buNone/>
            </a:pPr>
            <a:r>
              <a:rPr lang="en-US" sz="1100" b="1" spc="100" kern="0" dirty="0">
                <a:solidFill>
                  <a:srgbClr val="5E8CFF"/>
                </a:solidFill>
                <a:latin typeface="Arial" pitchFamily="34" charset="0"/>
                <a:ea typeface="Arial" pitchFamily="34" charset="-122"/>
                <a:cs typeface="Arial" pitchFamily="34" charset="-120"/>
              </a:rPr>
              <a:t>03  ·  Product structure</a:t>
            </a:r>
            <a:endParaRPr lang="en-US" sz="1100" dirty="0"/>
          </a:p>
        </p:txBody>
      </p:sp>
      <p:sp>
        <p:nvSpPr>
          <p:cNvPr id="3" name="Text 1"/>
          <p:cNvSpPr/>
          <p:nvPr/>
        </p:nvSpPr>
        <p:spPr>
          <a:xfrm>
            <a:off x="457200" y="530352"/>
            <a:ext cx="1124712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Clearfield leads the store brand table at 8.7% of revenue</a:t>
            </a:r>
            <a:endParaRPr lang="en-US" sz="2400" dirty="0"/>
          </a:p>
        </p:txBody>
      </p:sp>
      <p:sp>
        <p:nvSpPr>
          <p:cNvPr id="4" name="Text 2"/>
          <p:cNvSpPr/>
          <p:nvPr/>
        </p:nvSpPr>
        <p:spPr>
          <a:xfrm>
            <a:off x="457200" y="987552"/>
            <a:ext cx="11247120" cy="384048"/>
          </a:xfrm>
          <a:prstGeom prst="rect">
            <a:avLst/>
          </a:prstGeom>
          <a:noFill/>
          <a:ln/>
        </p:spPr>
        <p:txBody>
          <a:bodyPr wrap="square" rtlCol="0" anchor="ctr"/>
          <a:lstStyle/>
          <a:p>
            <a:pPr indent="0" marL="0">
              <a:buNone/>
            </a:pPr>
            <a:r>
              <a:rPr lang="en-US" sz="1300" dirty="0">
                <a:solidFill>
                  <a:srgbClr val="8B93B8"/>
                </a:solidFill>
                <a:latin typeface="Arial" pitchFamily="34" charset="0"/>
                <a:ea typeface="Arial" pitchFamily="34" charset="-122"/>
                <a:cs typeface="Arial" pitchFamily="34" charset="-120"/>
              </a:rPr>
              <a:t>Percentages are share of total store revenue</a:t>
            </a:r>
            <a:endParaRPr lang="en-US" sz="1300" dirty="0"/>
          </a:p>
        </p:txBody>
      </p:sp>
      <p:sp>
        <p:nvSpPr>
          <p:cNvPr id="5" name="Shape 3"/>
          <p:cNvSpPr/>
          <p:nvPr/>
        </p:nvSpPr>
        <p:spPr>
          <a:xfrm>
            <a:off x="457200" y="950976"/>
            <a:ext cx="1005840" cy="32004"/>
          </a:xfrm>
          <a:prstGeom prst="rect">
            <a:avLst/>
          </a:prstGeom>
          <a:solidFill>
            <a:srgbClr val="5E8CFF"/>
          </a:solidFill>
          <a:ln w="12700">
            <a:solidFill>
              <a:srgbClr val="333333"/>
            </a:solidFill>
            <a:prstDash val="solid"/>
          </a:ln>
        </p:spPr>
      </p:sp>
      <p:pic>
        <p:nvPicPr>
          <p:cNvPr id="6" name="Image 0" descr="/Users/xiangruhe/Desktop/retail-report-pipeline/data/work/chart_brands.png">    </p:cNvPr>
          <p:cNvPicPr>
            <a:picLocks noChangeAspect="1"/>
          </p:cNvPicPr>
          <p:nvPr/>
        </p:nvPicPr>
        <p:blipFill>
          <a:blip r:embed="rId1"/>
          <a:stretch>
            <a:fillRect/>
          </a:stretch>
        </p:blipFill>
        <p:spPr>
          <a:xfrm>
            <a:off x="502920" y="1325880"/>
            <a:ext cx="11155680" cy="4572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F"/>
        </a:solidFill>
      </p:bgPr>
    </p:bg>
    <p:spTree>
      <p:nvGrpSpPr>
        <p:cNvPr id="1" name=""/>
        <p:cNvGrpSpPr/>
        <p:nvPr/>
      </p:nvGrpSpPr>
      <p:grpSpPr>
        <a:xfrm>
          <a:off x="0" y="0"/>
          <a:ext cx="0" cy="0"/>
          <a:chOff x="0" y="0"/>
          <a:chExt cx="0" cy="0"/>
        </a:xfrm>
      </p:grpSpPr>
      <p:sp>
        <p:nvSpPr>
          <p:cNvPr id="2" name="Text 0"/>
          <p:cNvSpPr/>
          <p:nvPr/>
        </p:nvSpPr>
        <p:spPr>
          <a:xfrm>
            <a:off x="457200" y="182880"/>
            <a:ext cx="11247120" cy="274320"/>
          </a:xfrm>
          <a:prstGeom prst="rect">
            <a:avLst/>
          </a:prstGeom>
          <a:noFill/>
          <a:ln/>
        </p:spPr>
        <p:txBody>
          <a:bodyPr wrap="square" rtlCol="0" anchor="ctr"/>
          <a:lstStyle/>
          <a:p>
            <a:pPr indent="0" marL="0">
              <a:buNone/>
            </a:pPr>
            <a:r>
              <a:rPr lang="en-US" sz="1100" b="1" spc="100" kern="0" dirty="0">
                <a:solidFill>
                  <a:srgbClr val="5E8CFF"/>
                </a:solidFill>
                <a:latin typeface="Arial" pitchFamily="34" charset="0"/>
                <a:ea typeface="Arial" pitchFamily="34" charset="-122"/>
                <a:cs typeface="Arial" pitchFamily="34" charset="-120"/>
              </a:rPr>
              <a:t>03  ·  Product structure</a:t>
            </a:r>
            <a:endParaRPr lang="en-US" sz="1100" dirty="0"/>
          </a:p>
        </p:txBody>
      </p:sp>
      <p:sp>
        <p:nvSpPr>
          <p:cNvPr id="3" name="Text 1"/>
          <p:cNvSpPr/>
          <p:nvPr/>
        </p:nvSpPr>
        <p:spPr>
          <a:xfrm>
            <a:off x="457200" y="530352"/>
            <a:ext cx="1124712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Clearfield holds 32.0% of milk powder against Ambervale at 20.9%</a:t>
            </a:r>
            <a:endParaRPr lang="en-US" sz="2400" dirty="0"/>
          </a:p>
        </p:txBody>
      </p:sp>
      <p:sp>
        <p:nvSpPr>
          <p:cNvPr id="4" name="Text 2"/>
          <p:cNvSpPr/>
          <p:nvPr/>
        </p:nvSpPr>
        <p:spPr>
          <a:xfrm>
            <a:off x="457200" y="987552"/>
            <a:ext cx="11247120" cy="384048"/>
          </a:xfrm>
          <a:prstGeom prst="rect">
            <a:avLst/>
          </a:prstGeom>
          <a:noFill/>
          <a:ln/>
        </p:spPr>
        <p:txBody>
          <a:bodyPr wrap="square" rtlCol="0" anchor="ctr"/>
          <a:lstStyle/>
          <a:p>
            <a:pPr indent="0" marL="0">
              <a:buNone/>
            </a:pPr>
            <a:r>
              <a:rPr lang="en-US" sz="1300" dirty="0">
                <a:solidFill>
                  <a:srgbClr val="8B93B8"/>
                </a:solidFill>
                <a:latin typeface="Arial" pitchFamily="34" charset="0"/>
                <a:ea typeface="Arial" pitchFamily="34" charset="-122"/>
                <a:cs typeface="Arial" pitchFamily="34" charset="-120"/>
              </a:rPr>
              <a:t>Pickup and shipped combined · percentages are share of the milk powder category, not of the store</a:t>
            </a:r>
            <a:endParaRPr lang="en-US" sz="1300" dirty="0"/>
          </a:p>
        </p:txBody>
      </p:sp>
      <p:sp>
        <p:nvSpPr>
          <p:cNvPr id="5" name="Shape 3"/>
          <p:cNvSpPr/>
          <p:nvPr/>
        </p:nvSpPr>
        <p:spPr>
          <a:xfrm>
            <a:off x="457200" y="950976"/>
            <a:ext cx="1005840" cy="32004"/>
          </a:xfrm>
          <a:prstGeom prst="rect">
            <a:avLst/>
          </a:prstGeom>
          <a:solidFill>
            <a:srgbClr val="5E8CFF"/>
          </a:solidFill>
          <a:ln w="12700">
            <a:solidFill>
              <a:srgbClr val="333333"/>
            </a:solidFill>
            <a:prstDash val="solid"/>
          </a:ln>
        </p:spPr>
      </p:sp>
      <p:pic>
        <p:nvPicPr>
          <p:cNvPr id="6" name="Image 0" descr="/Users/xiangruhe/Desktop/retail-report-pipeline/data/work/chart_milk_brands.png">    </p:cNvPr>
          <p:cNvPicPr>
            <a:picLocks noChangeAspect="1"/>
          </p:cNvPicPr>
          <p:nvPr/>
        </p:nvPicPr>
        <p:blipFill>
          <a:blip r:embed="rId1"/>
          <a:stretch>
            <a:fillRect/>
          </a:stretch>
        </p:blipFill>
        <p:spPr>
          <a:xfrm>
            <a:off x="384048" y="1417320"/>
            <a:ext cx="7863840" cy="4480560"/>
          </a:xfrm>
          <a:prstGeom prst="rect">
            <a:avLst/>
          </a:prstGeom>
        </p:spPr>
      </p:pic>
      <p:sp>
        <p:nvSpPr>
          <p:cNvPr id="7" name="Shape 4"/>
          <p:cNvSpPr/>
          <p:nvPr/>
        </p:nvSpPr>
        <p:spPr>
          <a:xfrm>
            <a:off x="8412480" y="1417320"/>
            <a:ext cx="3429000" cy="4480560"/>
          </a:xfrm>
          <a:prstGeom prst="roundRect">
            <a:avLst>
              <a:gd name="adj" fmla="val 1600"/>
            </a:avLst>
          </a:prstGeom>
          <a:solidFill>
            <a:srgbClr val="141A33"/>
          </a:solidFill>
          <a:ln w="12700">
            <a:solidFill>
              <a:srgbClr val="232B52"/>
            </a:solidFill>
            <a:prstDash val="solid"/>
          </a:ln>
        </p:spPr>
      </p:sp>
      <p:sp>
        <p:nvSpPr>
          <p:cNvPr id="8" name="Text 5"/>
          <p:cNvSpPr/>
          <p:nvPr/>
        </p:nvSpPr>
        <p:spPr>
          <a:xfrm>
            <a:off x="8613648" y="1563624"/>
            <a:ext cx="3026664" cy="274320"/>
          </a:xfrm>
          <a:prstGeom prst="rect">
            <a:avLst/>
          </a:prstGeom>
          <a:noFill/>
          <a:ln/>
        </p:spPr>
        <p:txBody>
          <a:bodyPr wrap="square" rtlCol="0" anchor="ctr"/>
          <a:lstStyle/>
          <a:p>
            <a:pPr indent="0" marL="0">
              <a:buNone/>
            </a:pPr>
            <a:r>
              <a:rPr lang="en-US" sz="1200" b="1" dirty="0">
                <a:solidFill>
                  <a:srgbClr val="56D6D6"/>
                </a:solidFill>
                <a:latin typeface="Arial" pitchFamily="34" charset="0"/>
                <a:ea typeface="Arial" pitchFamily="34" charset="-122"/>
                <a:cs typeface="Arial" pitchFamily="34" charset="-120"/>
              </a:rPr>
              <a:t>Notes</a:t>
            </a:r>
            <a:endParaRPr lang="en-US" sz="1200" dirty="0"/>
          </a:p>
        </p:txBody>
      </p:sp>
      <p:sp>
        <p:nvSpPr>
          <p:cNvPr id="9" name="Text 6"/>
          <p:cNvSpPr/>
          <p:nvPr/>
        </p:nvSpPr>
        <p:spPr>
          <a:xfrm>
            <a:off x="8613648" y="1874520"/>
            <a:ext cx="3026664" cy="3858768"/>
          </a:xfrm>
          <a:prstGeom prst="rect">
            <a:avLst/>
          </a:prstGeom>
          <a:noFill/>
          <a:ln/>
        </p:spPr>
        <p:txBody>
          <a:bodyPr wrap="square" rtlCol="0" anchor="t"/>
          <a:lstStyle/>
          <a:p>
            <a:pPr indent="0" marL="0">
              <a:lnSpc>
                <a:spcPct val="125000"/>
              </a:lnSpc>
              <a:buNone/>
            </a:pPr>
            <a:r>
              <a:rPr lang="en-US" sz="1150" dirty="0">
                <a:solidFill>
                  <a:srgbClr val="FFFFFF"/>
                </a:solidFill>
                <a:latin typeface="Arial" pitchFamily="34" charset="0"/>
                <a:ea typeface="Arial" pitchFamily="34" charset="-122"/>
                <a:cs typeface="Arial" pitchFamily="34" charset="-120"/>
              </a:rPr>
              <a:t>Clearfield at 32.0% and Ambervale at 20.9% together cover just over half the category, with Westbrook at 4.3% the smallest of the six listed. Facings for the two leaders should reflect that gap when the shelf is reset.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F"/>
        </a:solidFill>
      </p:bgPr>
    </p:bg>
    <p:spTree>
      <p:nvGrpSpPr>
        <p:cNvPr id="1" name=""/>
        <p:cNvGrpSpPr/>
        <p:nvPr/>
      </p:nvGrpSpPr>
      <p:grpSpPr>
        <a:xfrm>
          <a:off x="0" y="0"/>
          <a:ext cx="0" cy="0"/>
          <a:chOff x="0" y="0"/>
          <a:chExt cx="0" cy="0"/>
        </a:xfrm>
      </p:grpSpPr>
      <p:sp>
        <p:nvSpPr>
          <p:cNvPr id="2" name="Text 0"/>
          <p:cNvSpPr/>
          <p:nvPr/>
        </p:nvSpPr>
        <p:spPr>
          <a:xfrm>
            <a:off x="457200" y="182880"/>
            <a:ext cx="11247120" cy="274320"/>
          </a:xfrm>
          <a:prstGeom prst="rect">
            <a:avLst/>
          </a:prstGeom>
          <a:noFill/>
          <a:ln/>
        </p:spPr>
        <p:txBody>
          <a:bodyPr wrap="square" rtlCol="0" anchor="ctr"/>
          <a:lstStyle/>
          <a:p>
            <a:pPr indent="0" marL="0">
              <a:buNone/>
            </a:pPr>
            <a:r>
              <a:rPr lang="en-US" sz="1100" b="1" spc="100" kern="0" dirty="0">
                <a:solidFill>
                  <a:srgbClr val="5E8CFF"/>
                </a:solidFill>
                <a:latin typeface="Arial" pitchFamily="34" charset="0"/>
                <a:ea typeface="Arial" pitchFamily="34" charset="-122"/>
                <a:cs typeface="Arial" pitchFamily="34" charset="-120"/>
              </a:rPr>
              <a:t>03  ·  Product structure</a:t>
            </a:r>
            <a:endParaRPr lang="en-US" sz="1100" dirty="0"/>
          </a:p>
        </p:txBody>
      </p:sp>
      <p:sp>
        <p:nvSpPr>
          <p:cNvPr id="3" name="Text 1"/>
          <p:cNvSpPr/>
          <p:nvPr/>
        </p:nvSpPr>
        <p:spPr>
          <a:xfrm>
            <a:off x="457200" y="530352"/>
            <a:ext cx="1124712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Pickup skews regular: NZ$9,737.10 against NZ$2,051.28 premium</a:t>
            </a:r>
            <a:endParaRPr lang="en-US" sz="2400" dirty="0"/>
          </a:p>
        </p:txBody>
      </p:sp>
      <p:sp>
        <p:nvSpPr>
          <p:cNvPr id="4" name="Text 2"/>
          <p:cNvSpPr/>
          <p:nvPr/>
        </p:nvSpPr>
        <p:spPr>
          <a:xfrm>
            <a:off x="457200" y="987552"/>
            <a:ext cx="11247120" cy="384048"/>
          </a:xfrm>
          <a:prstGeom prst="rect">
            <a:avLst/>
          </a:prstGeom>
          <a:noFill/>
          <a:ln/>
        </p:spPr>
        <p:txBody>
          <a:bodyPr wrap="square" rtlCol="0" anchor="ctr"/>
          <a:lstStyle/>
          <a:p>
            <a:pPr indent="0" marL="0">
              <a:buNone/>
            </a:pPr>
            <a:r>
              <a:rPr lang="en-US" sz="1300" dirty="0">
                <a:solidFill>
                  <a:srgbClr val="8B93B8"/>
                </a:solidFill>
                <a:latin typeface="Arial" pitchFamily="34" charset="0"/>
                <a:ea typeface="Arial" pitchFamily="34" charset="-122"/>
                <a:cs typeface="Arial" pitchFamily="34" charset="-120"/>
              </a:rPr>
              <a:t>Premium marks the range the store is putting in front of customers — it is not a price band</a:t>
            </a:r>
            <a:endParaRPr lang="en-US" sz="1300" dirty="0"/>
          </a:p>
        </p:txBody>
      </p:sp>
      <p:sp>
        <p:nvSpPr>
          <p:cNvPr id="5" name="Shape 3"/>
          <p:cNvSpPr/>
          <p:nvPr/>
        </p:nvSpPr>
        <p:spPr>
          <a:xfrm>
            <a:off x="457200" y="950976"/>
            <a:ext cx="1005840" cy="32004"/>
          </a:xfrm>
          <a:prstGeom prst="rect">
            <a:avLst/>
          </a:prstGeom>
          <a:solidFill>
            <a:srgbClr val="5E8CFF"/>
          </a:solidFill>
          <a:ln w="12700">
            <a:solidFill>
              <a:srgbClr val="333333"/>
            </a:solidFill>
            <a:prstDash val="solid"/>
          </a:ln>
        </p:spPr>
      </p:sp>
      <p:pic>
        <p:nvPicPr>
          <p:cNvPr id="6" name="Image 0" descr="/Users/xiangruhe/Desktop/retail-report-pipeline/data/work/chart_pickup_tiers.png">    </p:cNvPr>
          <p:cNvPicPr>
            <a:picLocks noChangeAspect="1"/>
          </p:cNvPicPr>
          <p:nvPr/>
        </p:nvPicPr>
        <p:blipFill>
          <a:blip r:embed="rId1"/>
          <a:stretch>
            <a:fillRect/>
          </a:stretch>
        </p:blipFill>
        <p:spPr>
          <a:xfrm>
            <a:off x="384048" y="1417320"/>
            <a:ext cx="11430000" cy="2651760"/>
          </a:xfrm>
          <a:prstGeom prst="rect">
            <a:avLst/>
          </a:prstGeom>
        </p:spPr>
      </p:pic>
      <p:sp>
        <p:nvSpPr>
          <p:cNvPr id="7" name="Shape 4"/>
          <p:cNvSpPr/>
          <p:nvPr/>
        </p:nvSpPr>
        <p:spPr>
          <a:xfrm>
            <a:off x="384048" y="4206240"/>
            <a:ext cx="11430000" cy="1463040"/>
          </a:xfrm>
          <a:prstGeom prst="roundRect">
            <a:avLst>
              <a:gd name="adj" fmla="val 3750"/>
            </a:avLst>
          </a:prstGeom>
          <a:solidFill>
            <a:srgbClr val="141A33"/>
          </a:solidFill>
          <a:ln w="12700">
            <a:solidFill>
              <a:srgbClr val="232B52"/>
            </a:solidFill>
            <a:prstDash val="solid"/>
          </a:ln>
        </p:spPr>
      </p:sp>
      <p:sp>
        <p:nvSpPr>
          <p:cNvPr id="8" name="Text 5"/>
          <p:cNvSpPr/>
          <p:nvPr/>
        </p:nvSpPr>
        <p:spPr>
          <a:xfrm>
            <a:off x="585216" y="4352544"/>
            <a:ext cx="11027664" cy="274320"/>
          </a:xfrm>
          <a:prstGeom prst="rect">
            <a:avLst/>
          </a:prstGeom>
          <a:noFill/>
          <a:ln/>
        </p:spPr>
        <p:txBody>
          <a:bodyPr wrap="square" rtlCol="0" anchor="ctr"/>
          <a:lstStyle/>
          <a:p>
            <a:pPr indent="0" marL="0">
              <a:buNone/>
            </a:pPr>
            <a:r>
              <a:rPr lang="en-US" sz="1200" b="1" dirty="0">
                <a:solidFill>
                  <a:srgbClr val="5E8CFF"/>
                </a:solidFill>
                <a:latin typeface="Arial" pitchFamily="34" charset="0"/>
                <a:ea typeface="Arial" pitchFamily="34" charset="-122"/>
                <a:cs typeface="Arial" pitchFamily="34" charset="-120"/>
              </a:rPr>
              <a:t>Reading</a:t>
            </a:r>
            <a:endParaRPr lang="en-US" sz="1200" dirty="0"/>
          </a:p>
        </p:txBody>
      </p:sp>
      <p:sp>
        <p:nvSpPr>
          <p:cNvPr id="9" name="Text 6"/>
          <p:cNvSpPr/>
          <p:nvPr/>
        </p:nvSpPr>
        <p:spPr>
          <a:xfrm>
            <a:off x="585216" y="4663440"/>
            <a:ext cx="11027664" cy="841248"/>
          </a:xfrm>
          <a:prstGeom prst="rect">
            <a:avLst/>
          </a:prstGeom>
          <a:noFill/>
          <a:ln/>
        </p:spPr>
        <p:txBody>
          <a:bodyPr wrap="square" rtlCol="0" anchor="t"/>
          <a:lstStyle/>
          <a:p>
            <a:pPr indent="0" marL="0">
              <a:lnSpc>
                <a:spcPct val="125000"/>
              </a:lnSpc>
              <a:buNone/>
            </a:pPr>
            <a:r>
              <a:rPr lang="en-US" sz="1150" dirty="0">
                <a:solidFill>
                  <a:srgbClr val="FFFFFF"/>
                </a:solidFill>
                <a:latin typeface="Arial" pitchFamily="34" charset="0"/>
                <a:ea typeface="Arial" pitchFamily="34" charset="-122"/>
                <a:cs typeface="Arial" pitchFamily="34" charset="-120"/>
              </a:rPr>
              <a:t>Pickup orders carried 161 regular units and 35 premium units in January. Placing a small premium display at the collection point would put that range in front of customers who are already in store.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F1F"/>
        </a:solidFill>
      </p:bgPr>
    </p:bg>
    <p:spTree>
      <p:nvGrpSpPr>
        <p:cNvPr id="1" name=""/>
        <p:cNvGrpSpPr/>
        <p:nvPr/>
      </p:nvGrpSpPr>
      <p:grpSpPr>
        <a:xfrm>
          <a:off x="0" y="0"/>
          <a:ext cx="0" cy="0"/>
          <a:chOff x="0" y="0"/>
          <a:chExt cx="0" cy="0"/>
        </a:xfrm>
      </p:grpSpPr>
      <p:sp>
        <p:nvSpPr>
          <p:cNvPr id="2" name="Text 0"/>
          <p:cNvSpPr/>
          <p:nvPr/>
        </p:nvSpPr>
        <p:spPr>
          <a:xfrm>
            <a:off x="457200" y="182880"/>
            <a:ext cx="11247120" cy="274320"/>
          </a:xfrm>
          <a:prstGeom prst="rect">
            <a:avLst/>
          </a:prstGeom>
          <a:noFill/>
          <a:ln/>
        </p:spPr>
        <p:txBody>
          <a:bodyPr wrap="square" rtlCol="0" anchor="ctr"/>
          <a:lstStyle/>
          <a:p>
            <a:pPr indent="0" marL="0">
              <a:buNone/>
            </a:pPr>
            <a:r>
              <a:rPr lang="en-US" sz="1100" b="1" spc="100" kern="0" dirty="0">
                <a:solidFill>
                  <a:srgbClr val="5E8CFF"/>
                </a:solidFill>
                <a:latin typeface="Arial" pitchFamily="34" charset="0"/>
                <a:ea typeface="Arial" pitchFamily="34" charset="-122"/>
                <a:cs typeface="Arial" pitchFamily="34" charset="-120"/>
              </a:rPr>
              <a:t>03  ·  Product structure</a:t>
            </a:r>
            <a:endParaRPr lang="en-US" sz="1100" dirty="0"/>
          </a:p>
        </p:txBody>
      </p:sp>
      <p:sp>
        <p:nvSpPr>
          <p:cNvPr id="3" name="Text 1"/>
          <p:cNvSpPr/>
          <p:nvPr/>
        </p:nvSpPr>
        <p:spPr>
          <a:xfrm>
            <a:off x="457200" y="530352"/>
            <a:ext cx="1124712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Fish oil tops functional lines at NZ$4,194.93 on 126 units</a:t>
            </a:r>
            <a:endParaRPr lang="en-US" sz="2400" dirty="0"/>
          </a:p>
        </p:txBody>
      </p:sp>
      <p:sp>
        <p:nvSpPr>
          <p:cNvPr id="4" name="Text 2"/>
          <p:cNvSpPr/>
          <p:nvPr/>
        </p:nvSpPr>
        <p:spPr>
          <a:xfrm>
            <a:off x="457200" y="987552"/>
            <a:ext cx="11247120" cy="384048"/>
          </a:xfrm>
          <a:prstGeom prst="rect">
            <a:avLst/>
          </a:prstGeom>
          <a:noFill/>
          <a:ln/>
        </p:spPr>
        <p:txBody>
          <a:bodyPr wrap="square" rtlCol="0" anchor="ctr"/>
          <a:lstStyle/>
          <a:p>
            <a:pPr indent="0" marL="0">
              <a:buNone/>
            </a:pPr>
            <a:r>
              <a:rPr lang="en-US" sz="1300" dirty="0">
                <a:solidFill>
                  <a:srgbClr val="8B93B8"/>
                </a:solidFill>
                <a:latin typeface="Arial" pitchFamily="34" charset="0"/>
                <a:ea typeface="Arial" pitchFamily="34" charset="-122"/>
                <a:cs typeface="Arial" pitchFamily="34" charset="-120"/>
              </a:rPr>
              <a:t>Units sold · a read on what customers are buying supplements for</a:t>
            </a:r>
            <a:endParaRPr lang="en-US" sz="1300" dirty="0"/>
          </a:p>
        </p:txBody>
      </p:sp>
      <p:sp>
        <p:nvSpPr>
          <p:cNvPr id="5" name="Shape 3"/>
          <p:cNvSpPr/>
          <p:nvPr/>
        </p:nvSpPr>
        <p:spPr>
          <a:xfrm>
            <a:off x="457200" y="950976"/>
            <a:ext cx="1005840" cy="32004"/>
          </a:xfrm>
          <a:prstGeom prst="rect">
            <a:avLst/>
          </a:prstGeom>
          <a:solidFill>
            <a:srgbClr val="5E8CFF"/>
          </a:solidFill>
          <a:ln w="12700">
            <a:solidFill>
              <a:srgbClr val="333333"/>
            </a:solidFill>
            <a:prstDash val="solid"/>
          </a:ln>
        </p:spPr>
      </p:sp>
      <p:pic>
        <p:nvPicPr>
          <p:cNvPr id="6" name="Image 0" descr="/Users/xiangruhe/Desktop/retail-report-pipeline/data/work/chart_functional_types.png">    </p:cNvPr>
          <p:cNvPicPr>
            <a:picLocks noChangeAspect="1"/>
          </p:cNvPicPr>
          <p:nvPr/>
        </p:nvPicPr>
        <p:blipFill>
          <a:blip r:embed="rId1"/>
          <a:stretch>
            <a:fillRect/>
          </a:stretch>
        </p:blipFill>
        <p:spPr>
          <a:xfrm>
            <a:off x="384048" y="1417320"/>
            <a:ext cx="7315200" cy="4480560"/>
          </a:xfrm>
          <a:prstGeom prst="rect">
            <a:avLst/>
          </a:prstGeom>
        </p:spPr>
      </p:pic>
      <p:sp>
        <p:nvSpPr>
          <p:cNvPr id="7" name="Shape 4"/>
          <p:cNvSpPr/>
          <p:nvPr/>
        </p:nvSpPr>
        <p:spPr>
          <a:xfrm>
            <a:off x="7909560" y="1417320"/>
            <a:ext cx="3913632" cy="4480560"/>
          </a:xfrm>
          <a:prstGeom prst="roundRect">
            <a:avLst>
              <a:gd name="adj" fmla="val 1402"/>
            </a:avLst>
          </a:prstGeom>
          <a:solidFill>
            <a:srgbClr val="141A33"/>
          </a:solidFill>
          <a:ln w="12700">
            <a:solidFill>
              <a:srgbClr val="232B52"/>
            </a:solidFill>
            <a:prstDash val="solid"/>
          </a:ln>
        </p:spPr>
      </p:sp>
      <p:sp>
        <p:nvSpPr>
          <p:cNvPr id="8" name="Text 5"/>
          <p:cNvSpPr/>
          <p:nvPr/>
        </p:nvSpPr>
        <p:spPr>
          <a:xfrm>
            <a:off x="8110728" y="1563624"/>
            <a:ext cx="3511296" cy="274320"/>
          </a:xfrm>
          <a:prstGeom prst="rect">
            <a:avLst/>
          </a:prstGeom>
          <a:noFill/>
          <a:ln/>
        </p:spPr>
        <p:txBody>
          <a:bodyPr wrap="square" rtlCol="0" anchor="ctr"/>
          <a:lstStyle/>
          <a:p>
            <a:pPr indent="0" marL="0">
              <a:buNone/>
            </a:pPr>
            <a:r>
              <a:rPr lang="en-US" sz="1200" b="1" dirty="0">
                <a:solidFill>
                  <a:srgbClr val="56D6D6"/>
                </a:solidFill>
                <a:latin typeface="Arial" pitchFamily="34" charset="0"/>
                <a:ea typeface="Arial" pitchFamily="34" charset="-122"/>
                <a:cs typeface="Arial" pitchFamily="34" charset="-120"/>
              </a:rPr>
              <a:t>Notes</a:t>
            </a:r>
            <a:endParaRPr lang="en-US" sz="1200" dirty="0"/>
          </a:p>
        </p:txBody>
      </p:sp>
      <p:sp>
        <p:nvSpPr>
          <p:cNvPr id="9" name="Text 6"/>
          <p:cNvSpPr/>
          <p:nvPr/>
        </p:nvSpPr>
        <p:spPr>
          <a:xfrm>
            <a:off x="8110728" y="1874520"/>
            <a:ext cx="3511296" cy="3858768"/>
          </a:xfrm>
          <a:prstGeom prst="rect">
            <a:avLst/>
          </a:prstGeom>
          <a:noFill/>
          <a:ln/>
        </p:spPr>
        <p:txBody>
          <a:bodyPr wrap="square" rtlCol="0" anchor="t"/>
          <a:lstStyle/>
          <a:p>
            <a:pPr indent="0" marL="0">
              <a:lnSpc>
                <a:spcPct val="125000"/>
              </a:lnSpc>
              <a:buNone/>
            </a:pPr>
            <a:r>
              <a:rPr lang="en-US" sz="1150" dirty="0">
                <a:solidFill>
                  <a:srgbClr val="FFFFFF"/>
                </a:solidFill>
                <a:latin typeface="Arial" pitchFamily="34" charset="0"/>
                <a:ea typeface="Arial" pitchFamily="34" charset="-122"/>
                <a:cs typeface="Arial" pitchFamily="34" charset="-120"/>
              </a:rPr>
              <a:t>Fish oil (126 units) and joint care (100 units) are the two largest functional lines, while eye care and magnesium sit at 38 units each. Shelf space at eye level could follow that order.</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F1F"/>
        </a:solidFill>
      </p:bgPr>
    </p:bg>
    <p:spTree>
      <p:nvGrpSpPr>
        <p:cNvPr id="1" name=""/>
        <p:cNvGrpSpPr/>
        <p:nvPr/>
      </p:nvGrpSpPr>
      <p:grpSpPr>
        <a:xfrm>
          <a:off x="0" y="0"/>
          <a:ext cx="0" cy="0"/>
          <a:chOff x="0" y="0"/>
          <a:chExt cx="0" cy="0"/>
        </a:xfrm>
      </p:grpSpPr>
      <p:sp>
        <p:nvSpPr>
          <p:cNvPr id="2" name="Text 0"/>
          <p:cNvSpPr/>
          <p:nvPr/>
        </p:nvSpPr>
        <p:spPr>
          <a:xfrm>
            <a:off x="457200" y="182880"/>
            <a:ext cx="11247120" cy="274320"/>
          </a:xfrm>
          <a:prstGeom prst="rect">
            <a:avLst/>
          </a:prstGeom>
          <a:noFill/>
          <a:ln/>
        </p:spPr>
        <p:txBody>
          <a:bodyPr wrap="square" rtlCol="0" anchor="ctr"/>
          <a:lstStyle/>
          <a:p>
            <a:pPr indent="0" marL="0">
              <a:buNone/>
            </a:pPr>
            <a:r>
              <a:rPr lang="en-US" sz="1100" b="1" spc="100" kern="0" dirty="0">
                <a:solidFill>
                  <a:srgbClr val="5E8CFF"/>
                </a:solidFill>
                <a:latin typeface="Arial" pitchFamily="34" charset="0"/>
                <a:ea typeface="Arial" pitchFamily="34" charset="-122"/>
                <a:cs typeface="Arial" pitchFamily="34" charset="-120"/>
              </a:rPr>
              <a:t>04  ·  Channels</a:t>
            </a:r>
            <a:endParaRPr lang="en-US" sz="1100" dirty="0"/>
          </a:p>
        </p:txBody>
      </p:sp>
      <p:sp>
        <p:nvSpPr>
          <p:cNvPr id="3" name="Text 1"/>
          <p:cNvSpPr/>
          <p:nvPr/>
        </p:nvSpPr>
        <p:spPr>
          <a:xfrm>
            <a:off x="457200" y="530352"/>
            <a:ext cx="1124712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Export 1,265 units to local 1,100 in January</a:t>
            </a:r>
            <a:endParaRPr lang="en-US" sz="2400" dirty="0"/>
          </a:p>
        </p:txBody>
      </p:sp>
      <p:sp>
        <p:nvSpPr>
          <p:cNvPr id="4" name="Text 2"/>
          <p:cNvSpPr/>
          <p:nvPr/>
        </p:nvSpPr>
        <p:spPr>
          <a:xfrm>
            <a:off x="457200" y="987552"/>
            <a:ext cx="11247120" cy="384048"/>
          </a:xfrm>
          <a:prstGeom prst="rect">
            <a:avLst/>
          </a:prstGeom>
          <a:noFill/>
          <a:ln/>
        </p:spPr>
        <p:txBody>
          <a:bodyPr wrap="square" rtlCol="0" anchor="ctr"/>
          <a:lstStyle/>
          <a:p>
            <a:pPr indent="0" marL="0">
              <a:buNone/>
            </a:pPr>
            <a:r>
              <a:rPr lang="en-US" sz="1300" dirty="0">
                <a:solidFill>
                  <a:srgbClr val="8B93B8"/>
                </a:solidFill>
                <a:latin typeface="Arial" pitchFamily="34" charset="0"/>
                <a:ea typeface="Arial" pitchFamily="34" charset="-122"/>
                <a:cs typeface="Arial" pitchFamily="34" charset="-120"/>
              </a:rPr>
              <a:t>Units · grouped rather than stacked, because the two channels move independently</a:t>
            </a:r>
            <a:endParaRPr lang="en-US" sz="1300" dirty="0"/>
          </a:p>
        </p:txBody>
      </p:sp>
      <p:sp>
        <p:nvSpPr>
          <p:cNvPr id="5" name="Shape 3"/>
          <p:cNvSpPr/>
          <p:nvPr/>
        </p:nvSpPr>
        <p:spPr>
          <a:xfrm>
            <a:off x="457200" y="950976"/>
            <a:ext cx="1005840" cy="32004"/>
          </a:xfrm>
          <a:prstGeom prst="rect">
            <a:avLst/>
          </a:prstGeom>
          <a:solidFill>
            <a:srgbClr val="5E8CFF"/>
          </a:solidFill>
          <a:ln w="12700">
            <a:solidFill>
              <a:srgbClr val="333333"/>
            </a:solidFill>
            <a:prstDash val="solid"/>
          </a:ln>
        </p:spPr>
      </p:sp>
      <p:pic>
        <p:nvPicPr>
          <p:cNvPr id="6" name="Image 0" descr="/Users/xiangruhe/Desktop/retail-report-pipeline/data/work/chart_channels.png">    </p:cNvPr>
          <p:cNvPicPr>
            <a:picLocks noChangeAspect="1"/>
          </p:cNvPicPr>
          <p:nvPr/>
        </p:nvPicPr>
        <p:blipFill>
          <a:blip r:embed="rId1"/>
          <a:stretch>
            <a:fillRect/>
          </a:stretch>
        </p:blipFill>
        <p:spPr>
          <a:xfrm>
            <a:off x="384048" y="1417320"/>
            <a:ext cx="7040880" cy="4480560"/>
          </a:xfrm>
          <a:prstGeom prst="rect">
            <a:avLst/>
          </a:prstGeom>
        </p:spPr>
      </p:pic>
      <p:sp>
        <p:nvSpPr>
          <p:cNvPr id="7" name="Shape 4"/>
          <p:cNvSpPr/>
          <p:nvPr/>
        </p:nvSpPr>
        <p:spPr>
          <a:xfrm>
            <a:off x="7635240" y="1417320"/>
            <a:ext cx="4187952" cy="1005840"/>
          </a:xfrm>
          <a:prstGeom prst="roundRect">
            <a:avLst>
              <a:gd name="adj" fmla="val 5455"/>
            </a:avLst>
          </a:prstGeom>
          <a:solidFill>
            <a:srgbClr val="141A33"/>
          </a:solidFill>
          <a:ln w="12700">
            <a:solidFill>
              <a:srgbClr val="232B52"/>
            </a:solidFill>
            <a:prstDash val="solid"/>
          </a:ln>
        </p:spPr>
      </p:sp>
      <p:sp>
        <p:nvSpPr>
          <p:cNvPr id="8" name="Text 5"/>
          <p:cNvSpPr/>
          <p:nvPr/>
        </p:nvSpPr>
        <p:spPr>
          <a:xfrm>
            <a:off x="7818120" y="1545336"/>
            <a:ext cx="2011680" cy="457200"/>
          </a:xfrm>
          <a:prstGeom prst="rect">
            <a:avLst/>
          </a:prstGeom>
          <a:noFill/>
          <a:ln/>
        </p:spPr>
        <p:txBody>
          <a:bodyPr wrap="square" rtlCol="0" anchor="ctr"/>
          <a:lstStyle/>
          <a:p>
            <a:pPr indent="0" marL="0">
              <a:buNone/>
            </a:pPr>
            <a:r>
              <a:rPr lang="en-US" sz="2400" b="1" dirty="0">
                <a:solidFill>
                  <a:srgbClr val="8B93B8"/>
                </a:solidFill>
                <a:latin typeface="Arial" pitchFamily="34" charset="0"/>
                <a:ea typeface="Arial" pitchFamily="34" charset="-122"/>
                <a:cs typeface="Arial" pitchFamily="34" charset="-120"/>
              </a:rPr>
              <a:t>n/a</a:t>
            </a:r>
            <a:endParaRPr lang="en-US" sz="2400" dirty="0"/>
          </a:p>
        </p:txBody>
      </p:sp>
      <p:sp>
        <p:nvSpPr>
          <p:cNvPr id="9" name="Text 6"/>
          <p:cNvSpPr/>
          <p:nvPr/>
        </p:nvSpPr>
        <p:spPr>
          <a:xfrm>
            <a:off x="9921240" y="1581912"/>
            <a:ext cx="1737360" cy="685800"/>
          </a:xfrm>
          <a:prstGeom prst="rect">
            <a:avLst/>
          </a:prstGeom>
          <a:noFill/>
          <a:ln/>
        </p:spPr>
        <p:txBody>
          <a:bodyPr wrap="square" rtlCol="0" anchor="ctr"/>
          <a:lstStyle/>
          <a:p>
            <a:pPr algn="r" indent="0" marL="0">
              <a:lnSpc>
                <a:spcPct val="120000"/>
              </a:lnSpc>
              <a:buNone/>
            </a:pPr>
            <a:r>
              <a:rPr lang="en-US" sz="1100" dirty="0">
                <a:solidFill>
                  <a:srgbClr val="8B93B8"/>
                </a:solidFill>
                <a:latin typeface="Arial" pitchFamily="34" charset="0"/>
                <a:ea typeface="Arial" pitchFamily="34" charset="-122"/>
                <a:cs typeface="Arial" pitchFamily="34" charset="-120"/>
              </a:rPr>
              <a:t>Export units</a:t>
            </a:r>
            <a:endParaRPr lang="en-US" sz="1100" dirty="0"/>
          </a:p>
          <a:p>
            <a:pPr algn="r" indent="0" marL="0">
              <a:lnSpc>
                <a:spcPct val="120000"/>
              </a:lnSpc>
              <a:buNone/>
            </a:pPr>
            <a:r>
              <a:rPr lang="en-US" sz="1100" dirty="0">
                <a:solidFill>
                  <a:srgbClr val="8B93B8"/>
                </a:solidFill>
                <a:latin typeface="Arial" pitchFamily="34" charset="0"/>
                <a:ea typeface="Arial" pitchFamily="34" charset="-122"/>
                <a:cs typeface="Arial" pitchFamily="34" charset="-120"/>
              </a:rPr>
              <a:t>parcels</a:t>
            </a:r>
            <a:endParaRPr lang="en-US" sz="1100" dirty="0"/>
          </a:p>
        </p:txBody>
      </p:sp>
      <p:sp>
        <p:nvSpPr>
          <p:cNvPr id="10" name="Shape 7"/>
          <p:cNvSpPr/>
          <p:nvPr/>
        </p:nvSpPr>
        <p:spPr>
          <a:xfrm>
            <a:off x="7635240" y="2560320"/>
            <a:ext cx="4187952" cy="1005840"/>
          </a:xfrm>
          <a:prstGeom prst="roundRect">
            <a:avLst>
              <a:gd name="adj" fmla="val 5455"/>
            </a:avLst>
          </a:prstGeom>
          <a:solidFill>
            <a:srgbClr val="141A33"/>
          </a:solidFill>
          <a:ln w="12700">
            <a:solidFill>
              <a:srgbClr val="232B52"/>
            </a:solidFill>
            <a:prstDash val="solid"/>
          </a:ln>
        </p:spPr>
      </p:sp>
      <p:sp>
        <p:nvSpPr>
          <p:cNvPr id="11" name="Text 8"/>
          <p:cNvSpPr/>
          <p:nvPr/>
        </p:nvSpPr>
        <p:spPr>
          <a:xfrm>
            <a:off x="7818120" y="2688336"/>
            <a:ext cx="2011680" cy="457200"/>
          </a:xfrm>
          <a:prstGeom prst="rect">
            <a:avLst/>
          </a:prstGeom>
          <a:noFill/>
          <a:ln/>
        </p:spPr>
        <p:txBody>
          <a:bodyPr wrap="square" rtlCol="0" anchor="ctr"/>
          <a:lstStyle/>
          <a:p>
            <a:pPr indent="0" marL="0">
              <a:buNone/>
            </a:pPr>
            <a:r>
              <a:rPr lang="en-US" sz="2400" b="1" dirty="0">
                <a:solidFill>
                  <a:srgbClr val="8B93B8"/>
                </a:solidFill>
                <a:latin typeface="Arial" pitchFamily="34" charset="0"/>
                <a:ea typeface="Arial" pitchFamily="34" charset="-122"/>
                <a:cs typeface="Arial" pitchFamily="34" charset="-120"/>
              </a:rPr>
              <a:t>n/a</a:t>
            </a:r>
            <a:endParaRPr lang="en-US" sz="2400" dirty="0"/>
          </a:p>
        </p:txBody>
      </p:sp>
      <p:sp>
        <p:nvSpPr>
          <p:cNvPr id="12" name="Text 9"/>
          <p:cNvSpPr/>
          <p:nvPr/>
        </p:nvSpPr>
        <p:spPr>
          <a:xfrm>
            <a:off x="9921240" y="2724912"/>
            <a:ext cx="1737360" cy="685800"/>
          </a:xfrm>
          <a:prstGeom prst="rect">
            <a:avLst/>
          </a:prstGeom>
          <a:noFill/>
          <a:ln/>
        </p:spPr>
        <p:txBody>
          <a:bodyPr wrap="square" rtlCol="0" anchor="ctr"/>
          <a:lstStyle/>
          <a:p>
            <a:pPr algn="r" indent="0" marL="0">
              <a:lnSpc>
                <a:spcPct val="120000"/>
              </a:lnSpc>
              <a:buNone/>
            </a:pPr>
            <a:r>
              <a:rPr lang="en-US" sz="1100" dirty="0">
                <a:solidFill>
                  <a:srgbClr val="8B93B8"/>
                </a:solidFill>
                <a:latin typeface="Arial" pitchFamily="34" charset="0"/>
                <a:ea typeface="Arial" pitchFamily="34" charset="-122"/>
                <a:cs typeface="Arial" pitchFamily="34" charset="-120"/>
              </a:rPr>
              <a:t>Local units</a:t>
            </a:r>
            <a:endParaRPr lang="en-US" sz="1100" dirty="0"/>
          </a:p>
          <a:p>
            <a:pPr algn="r" indent="0" marL="0">
              <a:lnSpc>
                <a:spcPct val="120000"/>
              </a:lnSpc>
              <a:buNone/>
            </a:pPr>
            <a:r>
              <a:rPr lang="en-US" sz="1100" dirty="0">
                <a:solidFill>
                  <a:srgbClr val="8B93B8"/>
                </a:solidFill>
                <a:latin typeface="Arial" pitchFamily="34" charset="0"/>
                <a:ea typeface="Arial" pitchFamily="34" charset="-122"/>
                <a:cs typeface="Arial" pitchFamily="34" charset="-120"/>
              </a:rPr>
              <a:t>walk-in + trade</a:t>
            </a:r>
            <a:endParaRPr lang="en-US" sz="1100" dirty="0"/>
          </a:p>
        </p:txBody>
      </p:sp>
      <p:sp>
        <p:nvSpPr>
          <p:cNvPr id="13" name="Shape 10"/>
          <p:cNvSpPr/>
          <p:nvPr/>
        </p:nvSpPr>
        <p:spPr>
          <a:xfrm>
            <a:off x="7635240" y="3840480"/>
            <a:ext cx="4187952" cy="2057400"/>
          </a:xfrm>
          <a:prstGeom prst="roundRect">
            <a:avLst>
              <a:gd name="adj" fmla="val 2667"/>
            </a:avLst>
          </a:prstGeom>
          <a:solidFill>
            <a:srgbClr val="141A33"/>
          </a:solidFill>
          <a:ln w="12700">
            <a:solidFill>
              <a:srgbClr val="232B52"/>
            </a:solidFill>
            <a:prstDash val="solid"/>
          </a:ln>
        </p:spPr>
      </p:sp>
      <p:sp>
        <p:nvSpPr>
          <p:cNvPr id="14" name="Text 11"/>
          <p:cNvSpPr/>
          <p:nvPr/>
        </p:nvSpPr>
        <p:spPr>
          <a:xfrm>
            <a:off x="7836408" y="3986784"/>
            <a:ext cx="3785616" cy="274320"/>
          </a:xfrm>
          <a:prstGeom prst="rect">
            <a:avLst/>
          </a:prstGeom>
          <a:noFill/>
          <a:ln/>
        </p:spPr>
        <p:txBody>
          <a:bodyPr wrap="square" rtlCol="0" anchor="ctr"/>
          <a:lstStyle/>
          <a:p>
            <a:pPr indent="0" marL="0">
              <a:buNone/>
            </a:pPr>
            <a:r>
              <a:rPr lang="en-US" sz="1200" b="1" dirty="0">
                <a:solidFill>
                  <a:srgbClr val="5E8CFF"/>
                </a:solidFill>
                <a:latin typeface="Arial" pitchFamily="34" charset="0"/>
                <a:ea typeface="Arial" pitchFamily="34" charset="-122"/>
                <a:cs typeface="Arial" pitchFamily="34" charset="-120"/>
              </a:rPr>
              <a:t>Reading</a:t>
            </a:r>
            <a:endParaRPr lang="en-US" sz="1200" dirty="0"/>
          </a:p>
        </p:txBody>
      </p:sp>
      <p:sp>
        <p:nvSpPr>
          <p:cNvPr id="15" name="Text 12"/>
          <p:cNvSpPr/>
          <p:nvPr/>
        </p:nvSpPr>
        <p:spPr>
          <a:xfrm>
            <a:off x="7836408" y="4297680"/>
            <a:ext cx="3785616" cy="1435608"/>
          </a:xfrm>
          <a:prstGeom prst="rect">
            <a:avLst/>
          </a:prstGeom>
          <a:noFill/>
          <a:ln/>
        </p:spPr>
        <p:txBody>
          <a:bodyPr wrap="square" rtlCol="0" anchor="t"/>
          <a:lstStyle/>
          <a:p>
            <a:pPr indent="0" marL="0">
              <a:lnSpc>
                <a:spcPct val="125000"/>
              </a:lnSpc>
              <a:buNone/>
            </a:pPr>
            <a:r>
              <a:rPr lang="en-US" sz="1150" dirty="0">
                <a:solidFill>
                  <a:srgbClr val="FFFFFF"/>
                </a:solidFill>
                <a:latin typeface="Arial" pitchFamily="34" charset="0"/>
                <a:ea typeface="Arial" pitchFamily="34" charset="-122"/>
                <a:cs typeface="Arial" pitchFamily="34" charset="-120"/>
              </a:rPr>
              <a:t>Export took 53.5% of units and NZ$54,322.26 of revenue, against NZ$34,990.18 local. The New Year holidays at the start of the month typically leave walk-in trade quiet, which may sit behind the local figure.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F1F"/>
        </a:solidFill>
      </p:bgPr>
    </p:bg>
    <p:spTree>
      <p:nvGrpSpPr>
        <p:cNvPr id="1" name=""/>
        <p:cNvGrpSpPr/>
        <p:nvPr/>
      </p:nvGrpSpPr>
      <p:grpSpPr>
        <a:xfrm>
          <a:off x="0" y="0"/>
          <a:ext cx="0" cy="0"/>
          <a:chOff x="0" y="0"/>
          <a:chExt cx="0" cy="0"/>
        </a:xfrm>
      </p:grpSpPr>
      <p:sp>
        <p:nvSpPr>
          <p:cNvPr id="2" name="Text 0"/>
          <p:cNvSpPr/>
          <p:nvPr/>
        </p:nvSpPr>
        <p:spPr>
          <a:xfrm>
            <a:off x="457200" y="182880"/>
            <a:ext cx="11247120" cy="274320"/>
          </a:xfrm>
          <a:prstGeom prst="rect">
            <a:avLst/>
          </a:prstGeom>
          <a:noFill/>
          <a:ln/>
        </p:spPr>
        <p:txBody>
          <a:bodyPr wrap="square" rtlCol="0" anchor="ctr"/>
          <a:lstStyle/>
          <a:p>
            <a:pPr indent="0" marL="0">
              <a:buNone/>
            </a:pPr>
            <a:r>
              <a:rPr lang="en-US" sz="1100" b="1" spc="100" kern="0" dirty="0">
                <a:solidFill>
                  <a:srgbClr val="5E8CFF"/>
                </a:solidFill>
                <a:latin typeface="Arial" pitchFamily="34" charset="0"/>
                <a:ea typeface="Arial" pitchFamily="34" charset="-122"/>
                <a:cs typeface="Arial" pitchFamily="34" charset="-120"/>
              </a:rPr>
              <a:t>05  ·  Concentration</a:t>
            </a:r>
            <a:endParaRPr lang="en-US" sz="1100" dirty="0"/>
          </a:p>
        </p:txBody>
      </p:sp>
      <p:sp>
        <p:nvSpPr>
          <p:cNvPr id="3" name="Text 1"/>
          <p:cNvSpPr/>
          <p:nvPr/>
        </p:nvSpPr>
        <p:spPr>
          <a:xfrm>
            <a:off x="457200" y="530352"/>
            <a:ext cx="1124712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Top three SKU deciles carry 62.8% of revenue</a:t>
            </a:r>
            <a:endParaRPr lang="en-US" sz="2400" dirty="0"/>
          </a:p>
        </p:txBody>
      </p:sp>
      <p:sp>
        <p:nvSpPr>
          <p:cNvPr id="4" name="Text 2"/>
          <p:cNvSpPr/>
          <p:nvPr/>
        </p:nvSpPr>
        <p:spPr>
          <a:xfrm>
            <a:off x="457200" y="987552"/>
            <a:ext cx="11247120" cy="384048"/>
          </a:xfrm>
          <a:prstGeom prst="rect">
            <a:avLst/>
          </a:prstGeom>
          <a:noFill/>
          <a:ln/>
        </p:spPr>
        <p:txBody>
          <a:bodyPr wrap="square" rtlCol="0" anchor="ctr"/>
          <a:lstStyle/>
          <a:p>
            <a:pPr indent="0" marL="0">
              <a:buNone/>
            </a:pPr>
            <a:r>
              <a:rPr lang="en-US" sz="1300" dirty="0">
                <a:solidFill>
                  <a:srgbClr val="8B93B8"/>
                </a:solidFill>
                <a:latin typeface="Arial" pitchFamily="34" charset="0"/>
                <a:ea typeface="Arial" pitchFamily="34" charset="-122"/>
                <a:cs typeface="Arial" pitchFamily="34" charset="-120"/>
              </a:rPr>
              <a:t>Cumulative share of revenue as SKUs are added worst-to-best</a:t>
            </a:r>
            <a:endParaRPr lang="en-US" sz="1300" dirty="0"/>
          </a:p>
        </p:txBody>
      </p:sp>
      <p:sp>
        <p:nvSpPr>
          <p:cNvPr id="5" name="Shape 3"/>
          <p:cNvSpPr/>
          <p:nvPr/>
        </p:nvSpPr>
        <p:spPr>
          <a:xfrm>
            <a:off x="457200" y="950976"/>
            <a:ext cx="1005840" cy="32004"/>
          </a:xfrm>
          <a:prstGeom prst="rect">
            <a:avLst/>
          </a:prstGeom>
          <a:solidFill>
            <a:srgbClr val="5E8CFF"/>
          </a:solidFill>
          <a:ln w="12700">
            <a:solidFill>
              <a:srgbClr val="333333"/>
            </a:solidFill>
            <a:prstDash val="solid"/>
          </a:ln>
        </p:spPr>
      </p:sp>
      <p:pic>
        <p:nvPicPr>
          <p:cNvPr id="6" name="Image 0" descr="/Users/xiangruhe/Desktop/retail-report-pipeline/data/work/chart_concentration.png">    </p:cNvPr>
          <p:cNvPicPr>
            <a:picLocks noChangeAspect="1"/>
          </p:cNvPicPr>
          <p:nvPr/>
        </p:nvPicPr>
        <p:blipFill>
          <a:blip r:embed="rId1"/>
          <a:stretch>
            <a:fillRect/>
          </a:stretch>
        </p:blipFill>
        <p:spPr>
          <a:xfrm>
            <a:off x="502920" y="1417320"/>
            <a:ext cx="11155680" cy="42062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F1F"/>
        </a:solidFill>
      </p:bgPr>
    </p:bg>
    <p:spTree>
      <p:nvGrpSpPr>
        <p:cNvPr id="1" name=""/>
        <p:cNvGrpSpPr/>
        <p:nvPr/>
      </p:nvGrpSpPr>
      <p:grpSpPr>
        <a:xfrm>
          <a:off x="0" y="0"/>
          <a:ext cx="0" cy="0"/>
          <a:chOff x="0" y="0"/>
          <a:chExt cx="0" cy="0"/>
        </a:xfrm>
      </p:grpSpPr>
      <p:sp>
        <p:nvSpPr>
          <p:cNvPr id="2" name="Text 0"/>
          <p:cNvSpPr/>
          <p:nvPr/>
        </p:nvSpPr>
        <p:spPr>
          <a:xfrm>
            <a:off x="457200" y="182880"/>
            <a:ext cx="11247120" cy="274320"/>
          </a:xfrm>
          <a:prstGeom prst="rect">
            <a:avLst/>
          </a:prstGeom>
          <a:noFill/>
          <a:ln/>
        </p:spPr>
        <p:txBody>
          <a:bodyPr wrap="square" rtlCol="0" anchor="ctr"/>
          <a:lstStyle/>
          <a:p>
            <a:pPr indent="0" marL="0">
              <a:buNone/>
            </a:pPr>
            <a:r>
              <a:rPr lang="en-US" sz="1100" b="1" spc="100" kern="0" dirty="0">
                <a:solidFill>
                  <a:srgbClr val="5E8CFF"/>
                </a:solidFill>
                <a:latin typeface="Arial" pitchFamily="34" charset="0"/>
                <a:ea typeface="Arial" pitchFamily="34" charset="-122"/>
                <a:cs typeface="Arial" pitchFamily="34" charset="-120"/>
              </a:rPr>
              <a:t>06  ·  Operating context</a:t>
            </a:r>
            <a:endParaRPr lang="en-US" sz="1100" dirty="0"/>
          </a:p>
        </p:txBody>
      </p:sp>
      <p:sp>
        <p:nvSpPr>
          <p:cNvPr id="3" name="Text 1"/>
          <p:cNvSpPr/>
          <p:nvPr/>
        </p:nvSpPr>
        <p:spPr>
          <a:xfrm>
            <a:off x="457200" y="530352"/>
            <a:ext cx="1124712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268 visits and 94 mini-programme leads at a 61.0% completion rate</a:t>
            </a:r>
            <a:endParaRPr lang="en-US" sz="2400" dirty="0"/>
          </a:p>
        </p:txBody>
      </p:sp>
      <p:sp>
        <p:nvSpPr>
          <p:cNvPr id="4" name="Text 2"/>
          <p:cNvSpPr/>
          <p:nvPr/>
        </p:nvSpPr>
        <p:spPr>
          <a:xfrm>
            <a:off x="457200" y="987552"/>
            <a:ext cx="11247120" cy="384048"/>
          </a:xfrm>
          <a:prstGeom prst="rect">
            <a:avLst/>
          </a:prstGeom>
          <a:noFill/>
          <a:ln/>
        </p:spPr>
        <p:txBody>
          <a:bodyPr wrap="square" rtlCol="0" anchor="ctr"/>
          <a:lstStyle/>
          <a:p>
            <a:pPr indent="0" marL="0">
              <a:buNone/>
            </a:pPr>
            <a:r>
              <a:rPr lang="en-US" sz="1300" dirty="0">
                <a:solidFill>
                  <a:srgbClr val="8B93B8"/>
                </a:solidFill>
                <a:latin typeface="Arial" pitchFamily="34" charset="0"/>
                <a:ea typeface="Arial" pitchFamily="34" charset="-122"/>
                <a:cs typeface="Arial" pitchFamily="34" charset="-120"/>
              </a:rPr>
              <a:t>Entered by hand each month — these figures are not in the POS</a:t>
            </a:r>
            <a:endParaRPr lang="en-US" sz="1300" dirty="0"/>
          </a:p>
        </p:txBody>
      </p:sp>
      <p:sp>
        <p:nvSpPr>
          <p:cNvPr id="5" name="Shape 3"/>
          <p:cNvSpPr/>
          <p:nvPr/>
        </p:nvSpPr>
        <p:spPr>
          <a:xfrm>
            <a:off x="457200" y="950976"/>
            <a:ext cx="1005840" cy="32004"/>
          </a:xfrm>
          <a:prstGeom prst="rect">
            <a:avLst/>
          </a:prstGeom>
          <a:solidFill>
            <a:srgbClr val="5E8CFF"/>
          </a:solidFill>
          <a:ln w="12700">
            <a:solidFill>
              <a:srgbClr val="333333"/>
            </a:solidFill>
            <a:prstDash val="solid"/>
          </a:ln>
        </p:spPr>
      </p:sp>
      <p:sp>
        <p:nvSpPr>
          <p:cNvPr id="6" name="Shape 4"/>
          <p:cNvSpPr/>
          <p:nvPr/>
        </p:nvSpPr>
        <p:spPr>
          <a:xfrm>
            <a:off x="384048" y="1691640"/>
            <a:ext cx="3611880" cy="1554480"/>
          </a:xfrm>
          <a:prstGeom prst="roundRect">
            <a:avLst>
              <a:gd name="adj" fmla="val 3529"/>
            </a:avLst>
          </a:prstGeom>
          <a:solidFill>
            <a:srgbClr val="141A33"/>
          </a:solidFill>
          <a:ln w="12700">
            <a:solidFill>
              <a:srgbClr val="232B52"/>
            </a:solidFill>
            <a:prstDash val="solid"/>
          </a:ln>
        </p:spPr>
      </p:sp>
      <p:sp>
        <p:nvSpPr>
          <p:cNvPr id="7" name="Text 5"/>
          <p:cNvSpPr/>
          <p:nvPr/>
        </p:nvSpPr>
        <p:spPr>
          <a:xfrm>
            <a:off x="566928" y="1856232"/>
            <a:ext cx="3246120" cy="731520"/>
          </a:xfrm>
          <a:prstGeom prst="rect">
            <a:avLst/>
          </a:prstGeom>
          <a:noFill/>
          <a:ln/>
        </p:spPr>
        <p:txBody>
          <a:bodyPr wrap="square" rtlCol="0" anchor="ctr"/>
          <a:lstStyle/>
          <a:p>
            <a:pPr indent="0" marL="0">
              <a:buNone/>
            </a:pPr>
            <a:r>
              <a:rPr lang="en-US" sz="3200" b="1" dirty="0">
                <a:solidFill>
                  <a:srgbClr val="5E8CFF"/>
                </a:solidFill>
                <a:latin typeface="Arial" pitchFamily="34" charset="0"/>
                <a:ea typeface="Arial" pitchFamily="34" charset="-122"/>
                <a:cs typeface="Arial" pitchFamily="34" charset="-120"/>
              </a:rPr>
              <a:t>268</a:t>
            </a:r>
            <a:endParaRPr lang="en-US" sz="3200" dirty="0"/>
          </a:p>
        </p:txBody>
      </p:sp>
      <p:sp>
        <p:nvSpPr>
          <p:cNvPr id="8" name="Text 6"/>
          <p:cNvSpPr/>
          <p:nvPr/>
        </p:nvSpPr>
        <p:spPr>
          <a:xfrm>
            <a:off x="566928" y="2651760"/>
            <a:ext cx="3246120" cy="365760"/>
          </a:xfrm>
          <a:prstGeom prst="rect">
            <a:avLst/>
          </a:prstGeom>
          <a:noFill/>
          <a:ln/>
        </p:spPr>
        <p:txBody>
          <a:bodyPr wrap="square" rtlCol="0" anchor="ctr"/>
          <a:lstStyle/>
          <a:p>
            <a:pPr indent="0" marL="0">
              <a:buNone/>
            </a:pPr>
            <a:r>
              <a:rPr lang="en-US" sz="1200" dirty="0">
                <a:solidFill>
                  <a:srgbClr val="8B93B8"/>
                </a:solidFill>
                <a:latin typeface="Arial" pitchFamily="34" charset="0"/>
                <a:ea typeface="Arial" pitchFamily="34" charset="-122"/>
                <a:cs typeface="Arial" pitchFamily="34" charset="-120"/>
              </a:rPr>
              <a:t>foot traffic</a:t>
            </a:r>
            <a:endParaRPr lang="en-US" sz="1200" dirty="0"/>
          </a:p>
        </p:txBody>
      </p:sp>
      <p:sp>
        <p:nvSpPr>
          <p:cNvPr id="9" name="Shape 7"/>
          <p:cNvSpPr/>
          <p:nvPr/>
        </p:nvSpPr>
        <p:spPr>
          <a:xfrm>
            <a:off x="4270248" y="1691640"/>
            <a:ext cx="3611880" cy="1554480"/>
          </a:xfrm>
          <a:prstGeom prst="roundRect">
            <a:avLst>
              <a:gd name="adj" fmla="val 3529"/>
            </a:avLst>
          </a:prstGeom>
          <a:solidFill>
            <a:srgbClr val="141A33"/>
          </a:solidFill>
          <a:ln w="12700">
            <a:solidFill>
              <a:srgbClr val="232B52"/>
            </a:solidFill>
            <a:prstDash val="solid"/>
          </a:ln>
        </p:spPr>
      </p:sp>
      <p:sp>
        <p:nvSpPr>
          <p:cNvPr id="10" name="Text 8"/>
          <p:cNvSpPr/>
          <p:nvPr/>
        </p:nvSpPr>
        <p:spPr>
          <a:xfrm>
            <a:off x="4453128" y="1856232"/>
            <a:ext cx="3246120" cy="731520"/>
          </a:xfrm>
          <a:prstGeom prst="rect">
            <a:avLst/>
          </a:prstGeom>
          <a:noFill/>
          <a:ln/>
        </p:spPr>
        <p:txBody>
          <a:bodyPr wrap="square" rtlCol="0" anchor="ctr"/>
          <a:lstStyle/>
          <a:p>
            <a:pPr indent="0" marL="0">
              <a:buNone/>
            </a:pPr>
            <a:r>
              <a:rPr lang="en-US" sz="3200" b="1" dirty="0">
                <a:solidFill>
                  <a:srgbClr val="56D6D6"/>
                </a:solidFill>
                <a:latin typeface="Arial" pitchFamily="34" charset="0"/>
                <a:ea typeface="Arial" pitchFamily="34" charset="-122"/>
                <a:cs typeface="Arial" pitchFamily="34" charset="-120"/>
              </a:rPr>
              <a:t>94</a:t>
            </a:r>
            <a:endParaRPr lang="en-US" sz="3200" dirty="0"/>
          </a:p>
        </p:txBody>
      </p:sp>
      <p:sp>
        <p:nvSpPr>
          <p:cNvPr id="11" name="Text 9"/>
          <p:cNvSpPr/>
          <p:nvPr/>
        </p:nvSpPr>
        <p:spPr>
          <a:xfrm>
            <a:off x="4453128" y="2651760"/>
            <a:ext cx="3246120" cy="365760"/>
          </a:xfrm>
          <a:prstGeom prst="rect">
            <a:avLst/>
          </a:prstGeom>
          <a:noFill/>
          <a:ln/>
        </p:spPr>
        <p:txBody>
          <a:bodyPr wrap="square" rtlCol="0" anchor="ctr"/>
          <a:lstStyle/>
          <a:p>
            <a:pPr indent="0" marL="0">
              <a:buNone/>
            </a:pPr>
            <a:r>
              <a:rPr lang="en-US" sz="1200" dirty="0">
                <a:solidFill>
                  <a:srgbClr val="8B93B8"/>
                </a:solidFill>
                <a:latin typeface="Arial" pitchFamily="34" charset="0"/>
                <a:ea typeface="Arial" pitchFamily="34" charset="-122"/>
                <a:cs typeface="Arial" pitchFamily="34" charset="-120"/>
              </a:rPr>
              <a:t>app enquiries</a:t>
            </a:r>
            <a:endParaRPr lang="en-US" sz="1200" dirty="0"/>
          </a:p>
        </p:txBody>
      </p:sp>
      <p:sp>
        <p:nvSpPr>
          <p:cNvPr id="12" name="Shape 10"/>
          <p:cNvSpPr/>
          <p:nvPr/>
        </p:nvSpPr>
        <p:spPr>
          <a:xfrm>
            <a:off x="8156448" y="1691640"/>
            <a:ext cx="3611880" cy="1554480"/>
          </a:xfrm>
          <a:prstGeom prst="roundRect">
            <a:avLst>
              <a:gd name="adj" fmla="val 3529"/>
            </a:avLst>
          </a:prstGeom>
          <a:solidFill>
            <a:srgbClr val="141A33"/>
          </a:solidFill>
          <a:ln w="12700">
            <a:solidFill>
              <a:srgbClr val="232B52"/>
            </a:solidFill>
            <a:prstDash val="solid"/>
          </a:ln>
        </p:spPr>
      </p:sp>
      <p:sp>
        <p:nvSpPr>
          <p:cNvPr id="13" name="Text 11"/>
          <p:cNvSpPr/>
          <p:nvPr/>
        </p:nvSpPr>
        <p:spPr>
          <a:xfrm>
            <a:off x="8339328" y="1856232"/>
            <a:ext cx="3246120" cy="731520"/>
          </a:xfrm>
          <a:prstGeom prst="rect">
            <a:avLst/>
          </a:prstGeom>
          <a:noFill/>
          <a:ln/>
        </p:spPr>
        <p:txBody>
          <a:bodyPr wrap="square" rtlCol="0" anchor="ctr"/>
          <a:lstStyle/>
          <a:p>
            <a:pPr indent="0" marL="0">
              <a:buNone/>
            </a:pPr>
            <a:r>
              <a:rPr lang="en-US" sz="3200" b="1" dirty="0">
                <a:solidFill>
                  <a:srgbClr val="4ADE80"/>
                </a:solidFill>
                <a:latin typeface="Arial" pitchFamily="34" charset="0"/>
                <a:ea typeface="Arial" pitchFamily="34" charset="-122"/>
                <a:cs typeface="Arial" pitchFamily="34" charset="-120"/>
              </a:rPr>
              <a:t>61%</a:t>
            </a:r>
            <a:endParaRPr lang="en-US" sz="3200" dirty="0"/>
          </a:p>
        </p:txBody>
      </p:sp>
      <p:sp>
        <p:nvSpPr>
          <p:cNvPr id="14" name="Text 12"/>
          <p:cNvSpPr/>
          <p:nvPr/>
        </p:nvSpPr>
        <p:spPr>
          <a:xfrm>
            <a:off x="8339328" y="2651760"/>
            <a:ext cx="3246120" cy="365760"/>
          </a:xfrm>
          <a:prstGeom prst="rect">
            <a:avLst/>
          </a:prstGeom>
          <a:noFill/>
          <a:ln/>
        </p:spPr>
        <p:txBody>
          <a:bodyPr wrap="square" rtlCol="0" anchor="ctr"/>
          <a:lstStyle/>
          <a:p>
            <a:pPr indent="0" marL="0">
              <a:buNone/>
            </a:pPr>
            <a:r>
              <a:rPr lang="en-US" sz="1200" dirty="0">
                <a:solidFill>
                  <a:srgbClr val="8B93B8"/>
                </a:solidFill>
                <a:latin typeface="Arial" pitchFamily="34" charset="0"/>
                <a:ea typeface="Arial" pitchFamily="34" charset="-122"/>
                <a:cs typeface="Arial" pitchFamily="34" charset="-120"/>
              </a:rPr>
              <a:t>enquiry completion</a:t>
            </a:r>
            <a:endParaRPr lang="en-US" sz="1200" dirty="0"/>
          </a:p>
        </p:txBody>
      </p:sp>
      <p:sp>
        <p:nvSpPr>
          <p:cNvPr id="15" name="Shape 13"/>
          <p:cNvSpPr/>
          <p:nvPr/>
        </p:nvSpPr>
        <p:spPr>
          <a:xfrm>
            <a:off x="384048" y="3566160"/>
            <a:ext cx="11430000" cy="1371600"/>
          </a:xfrm>
          <a:prstGeom prst="roundRect">
            <a:avLst>
              <a:gd name="adj" fmla="val 4000"/>
            </a:avLst>
          </a:prstGeom>
          <a:solidFill>
            <a:srgbClr val="141A33"/>
          </a:solidFill>
          <a:ln w="12700">
            <a:solidFill>
              <a:srgbClr val="232B52"/>
            </a:solidFill>
            <a:prstDash val="solid"/>
          </a:ln>
        </p:spPr>
      </p:sp>
      <p:sp>
        <p:nvSpPr>
          <p:cNvPr id="16" name="Text 14"/>
          <p:cNvSpPr/>
          <p:nvPr/>
        </p:nvSpPr>
        <p:spPr>
          <a:xfrm>
            <a:off x="585216" y="3712464"/>
            <a:ext cx="11027664" cy="274320"/>
          </a:xfrm>
          <a:prstGeom prst="rect">
            <a:avLst/>
          </a:prstGeom>
          <a:noFill/>
          <a:ln/>
        </p:spPr>
        <p:txBody>
          <a:bodyPr wrap="square" rtlCol="0" anchor="ctr"/>
          <a:lstStyle/>
          <a:p>
            <a:pPr indent="0" marL="0">
              <a:buNone/>
            </a:pPr>
            <a:r>
              <a:rPr lang="en-US" sz="1200" b="1" dirty="0">
                <a:solidFill>
                  <a:srgbClr val="56D6D6"/>
                </a:solidFill>
                <a:latin typeface="Arial" pitchFamily="34" charset="0"/>
                <a:ea typeface="Arial" pitchFamily="34" charset="-122"/>
                <a:cs typeface="Arial" pitchFamily="34" charset="-120"/>
              </a:rPr>
              <a:t>Tour groups</a:t>
            </a:r>
            <a:endParaRPr lang="en-US" sz="1200" dirty="0"/>
          </a:p>
        </p:txBody>
      </p:sp>
      <p:sp>
        <p:nvSpPr>
          <p:cNvPr id="17" name="Text 15"/>
          <p:cNvSpPr/>
          <p:nvPr/>
        </p:nvSpPr>
        <p:spPr>
          <a:xfrm>
            <a:off x="585216" y="4023360"/>
            <a:ext cx="11027664" cy="749808"/>
          </a:xfrm>
          <a:prstGeom prst="rect">
            <a:avLst/>
          </a:prstGeom>
          <a:noFill/>
          <a:ln/>
        </p:spPr>
        <p:txBody>
          <a:bodyPr wrap="square" rtlCol="0" anchor="t"/>
          <a:lstStyle/>
          <a:p>
            <a:pPr indent="0" marL="0">
              <a:lnSpc>
                <a:spcPct val="125000"/>
              </a:lnSpc>
              <a:buNone/>
            </a:pPr>
            <a:r>
              <a:rPr lang="en-US" sz="1150" dirty="0">
                <a:solidFill>
                  <a:srgbClr val="FFFFFF"/>
                </a:solidFill>
                <a:latin typeface="Arial" pitchFamily="34" charset="0"/>
                <a:ea typeface="Arial" pitchFamily="34" charset="-122"/>
                <a:cs typeface="Arial" pitchFamily="34" charset="-120"/>
              </a:rPr>
              <a:t>No tour groups this month.</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F1F"/>
        </a:solidFill>
      </p:bgPr>
    </p:bg>
    <p:spTree>
      <p:nvGrpSpPr>
        <p:cNvPr id="1" name=""/>
        <p:cNvGrpSpPr/>
        <p:nvPr/>
      </p:nvGrpSpPr>
      <p:grpSpPr>
        <a:xfrm>
          <a:off x="0" y="0"/>
          <a:ext cx="0" cy="0"/>
          <a:chOff x="0" y="0"/>
          <a:chExt cx="0" cy="0"/>
        </a:xfrm>
      </p:grpSpPr>
      <p:sp>
        <p:nvSpPr>
          <p:cNvPr id="2" name="Text 0"/>
          <p:cNvSpPr/>
          <p:nvPr/>
        </p:nvSpPr>
        <p:spPr>
          <a:xfrm>
            <a:off x="457200" y="182880"/>
            <a:ext cx="11247120" cy="274320"/>
          </a:xfrm>
          <a:prstGeom prst="rect">
            <a:avLst/>
          </a:prstGeom>
          <a:noFill/>
          <a:ln/>
        </p:spPr>
        <p:txBody>
          <a:bodyPr wrap="square" rtlCol="0" anchor="ctr"/>
          <a:lstStyle/>
          <a:p>
            <a:pPr indent="0" marL="0">
              <a:buNone/>
            </a:pPr>
            <a:r>
              <a:rPr lang="en-US" sz="1100" b="1" spc="100" kern="0" dirty="0">
                <a:solidFill>
                  <a:srgbClr val="5E8CFF"/>
                </a:solidFill>
                <a:latin typeface="Arial" pitchFamily="34" charset="0"/>
                <a:ea typeface="Arial" pitchFamily="34" charset="-122"/>
                <a:cs typeface="Arial" pitchFamily="34" charset="-120"/>
              </a:rPr>
              <a:t>06  ·  Operating context</a:t>
            </a:r>
            <a:endParaRPr lang="en-US" sz="1100" dirty="0"/>
          </a:p>
        </p:txBody>
      </p:sp>
      <p:sp>
        <p:nvSpPr>
          <p:cNvPr id="3" name="Text 1"/>
          <p:cNvSpPr/>
          <p:nvPr/>
        </p:nvSpPr>
        <p:spPr>
          <a:xfrm>
            <a:off x="457200" y="530352"/>
            <a:ext cx="11247120" cy="457200"/>
          </a:xfrm>
          <a:prstGeom prst="rect">
            <a:avLst/>
          </a:prstGeom>
          <a:noFill/>
          <a:ln/>
        </p:spPr>
        <p:txBody>
          <a:bodyPr wrap="square" rtlCol="0" anchor="ctr"/>
          <a:lstStyle/>
          <a:p>
            <a:pPr indent="0" marL="0">
              <a:buNone/>
            </a:pPr>
            <a:r>
              <a:rPr lang="en-US" sz="2400" b="1" dirty="0">
                <a:solidFill>
                  <a:srgbClr val="FFFFFF"/>
                </a:solidFill>
                <a:latin typeface="Arial" pitchFamily="34" charset="0"/>
                <a:ea typeface="Arial" pitchFamily="34" charset="-122"/>
                <a:cs typeface="Arial" pitchFamily="34" charset="-120"/>
              </a:rPr>
              <a:t>Summer bundle running on premium supplements</a:t>
            </a:r>
            <a:endParaRPr lang="en-US" sz="2400" dirty="0"/>
          </a:p>
        </p:txBody>
      </p:sp>
      <p:sp>
        <p:nvSpPr>
          <p:cNvPr id="4" name="Text 2"/>
          <p:cNvSpPr/>
          <p:nvPr/>
        </p:nvSpPr>
        <p:spPr>
          <a:xfrm>
            <a:off x="457200" y="987552"/>
            <a:ext cx="11247120" cy="384048"/>
          </a:xfrm>
          <a:prstGeom prst="rect">
            <a:avLst/>
          </a:prstGeom>
          <a:noFill/>
          <a:ln/>
        </p:spPr>
        <p:txBody>
          <a:bodyPr wrap="square" rtlCol="0" anchor="ctr"/>
          <a:lstStyle/>
          <a:p>
            <a:pPr indent="0" marL="0">
              <a:buNone/>
            </a:pPr>
            <a:r>
              <a:rPr lang="en-US" sz="1300" dirty="0">
                <a:solidFill>
                  <a:srgbClr val="8B93B8"/>
                </a:solidFill>
                <a:latin typeface="Arial" pitchFamily="34" charset="0"/>
                <a:ea typeface="Arial" pitchFamily="34" charset="-122"/>
                <a:cs typeface="Arial" pitchFamily="34" charset="-120"/>
              </a:rPr>
              <a:t>Taken from the note entered in monthly_context.csv</a:t>
            </a:r>
            <a:endParaRPr lang="en-US" sz="1300" dirty="0"/>
          </a:p>
        </p:txBody>
      </p:sp>
      <p:sp>
        <p:nvSpPr>
          <p:cNvPr id="5" name="Shape 3"/>
          <p:cNvSpPr/>
          <p:nvPr/>
        </p:nvSpPr>
        <p:spPr>
          <a:xfrm>
            <a:off x="457200" y="950976"/>
            <a:ext cx="1005840" cy="32004"/>
          </a:xfrm>
          <a:prstGeom prst="rect">
            <a:avLst/>
          </a:prstGeom>
          <a:solidFill>
            <a:srgbClr val="5E8CFF"/>
          </a:solidFill>
          <a:ln w="12700">
            <a:solidFill>
              <a:srgbClr val="333333"/>
            </a:solidFill>
            <a:prstDash val="solid"/>
          </a:ln>
        </p:spPr>
      </p:sp>
      <p:sp>
        <p:nvSpPr>
          <p:cNvPr id="6" name="Shape 4"/>
          <p:cNvSpPr/>
          <p:nvPr/>
        </p:nvSpPr>
        <p:spPr>
          <a:xfrm>
            <a:off x="384048" y="1417320"/>
            <a:ext cx="11430000" cy="3931920"/>
          </a:xfrm>
          <a:prstGeom prst="roundRect">
            <a:avLst>
              <a:gd name="adj" fmla="val 1395"/>
            </a:avLst>
          </a:prstGeom>
          <a:solidFill>
            <a:srgbClr val="141A33"/>
          </a:solidFill>
          <a:ln w="12700">
            <a:solidFill>
              <a:srgbClr val="232B52"/>
            </a:solidFill>
            <a:prstDash val="solid"/>
          </a:ln>
        </p:spPr>
      </p:sp>
      <p:sp>
        <p:nvSpPr>
          <p:cNvPr id="7" name="Text 5"/>
          <p:cNvSpPr/>
          <p:nvPr/>
        </p:nvSpPr>
        <p:spPr>
          <a:xfrm>
            <a:off x="585216" y="1563624"/>
            <a:ext cx="11027664" cy="274320"/>
          </a:xfrm>
          <a:prstGeom prst="rect">
            <a:avLst/>
          </a:prstGeom>
          <a:noFill/>
          <a:ln/>
        </p:spPr>
        <p:txBody>
          <a:bodyPr wrap="square" rtlCol="0" anchor="ctr"/>
          <a:lstStyle/>
          <a:p>
            <a:pPr indent="0" marL="0">
              <a:buNone/>
            </a:pPr>
            <a:r>
              <a:rPr lang="en-US" sz="1200" b="1" dirty="0">
                <a:solidFill>
                  <a:srgbClr val="5E8CFF"/>
                </a:solidFill>
                <a:latin typeface="Arial" pitchFamily="34" charset="0"/>
                <a:ea typeface="Arial" pitchFamily="34" charset="-122"/>
                <a:cs typeface="Arial" pitchFamily="34" charset="-120"/>
              </a:rPr>
              <a:t>Key points</a:t>
            </a:r>
            <a:endParaRPr lang="en-US" sz="1200" dirty="0"/>
          </a:p>
        </p:txBody>
      </p:sp>
      <p:sp>
        <p:nvSpPr>
          <p:cNvPr id="8" name="Text 6"/>
          <p:cNvSpPr/>
          <p:nvPr/>
        </p:nvSpPr>
        <p:spPr>
          <a:xfrm>
            <a:off x="585216" y="1874520"/>
            <a:ext cx="11027664" cy="3310128"/>
          </a:xfrm>
          <a:prstGeom prst="rect">
            <a:avLst/>
          </a:prstGeom>
          <a:noFill/>
          <a:ln/>
        </p:spPr>
        <p:txBody>
          <a:bodyPr wrap="square" rtlCol="0" anchor="t"/>
          <a:lstStyle/>
          <a:p>
            <a:pPr indent="0" marL="0">
              <a:lnSpc>
                <a:spcPct val="125000"/>
              </a:lnSpc>
              <a:buNone/>
            </a:pPr>
            <a:r>
              <a:rPr lang="en-US" sz="1150" dirty="0">
                <a:solidFill>
                  <a:srgbClr val="FFFFFF"/>
                </a:solidFill>
                <a:latin typeface="Arial" pitchFamily="34" charset="0"/>
                <a:ea typeface="Arial" pitchFamily="34" charset="-122"/>
                <a:cs typeface="Arial" pitchFamily="34" charset="-120"/>
              </a:rPr>
              <a:t>Premium supplements: 3 for 10% off summer bundle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F1F"/>
        </a:solidFill>
      </p:bgPr>
    </p:bg>
    <p:spTree>
      <p:nvGrpSpPr>
        <p:cNvPr id="1" name=""/>
        <p:cNvGrpSpPr/>
        <p:nvPr/>
      </p:nvGrpSpPr>
      <p:grpSpPr>
        <a:xfrm>
          <a:off x="0" y="0"/>
          <a:ext cx="0" cy="0"/>
          <a:chOff x="0" y="0"/>
          <a:chExt cx="0" cy="0"/>
        </a:xfrm>
      </p:grpSpPr>
      <p:sp>
        <p:nvSpPr>
          <p:cNvPr id="2" name="Text 0"/>
          <p:cNvSpPr/>
          <p:nvPr/>
        </p:nvSpPr>
        <p:spPr>
          <a:xfrm>
            <a:off x="640080" y="2651760"/>
            <a:ext cx="1069848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Questions on any figure trace back to source</a:t>
            </a:r>
            <a:endParaRPr lang="en-US" sz="2800" dirty="0"/>
          </a:p>
        </p:txBody>
      </p:sp>
      <p:sp>
        <p:nvSpPr>
          <p:cNvPr id="3" name="Text 1"/>
          <p:cNvSpPr/>
          <p:nvPr/>
        </p:nvSpPr>
        <p:spPr>
          <a:xfrm>
            <a:off x="640080" y="3383280"/>
            <a:ext cx="10058400" cy="457200"/>
          </a:xfrm>
          <a:prstGeom prst="rect">
            <a:avLst/>
          </a:prstGeom>
          <a:noFill/>
          <a:ln/>
        </p:spPr>
        <p:txBody>
          <a:bodyPr wrap="square" rtlCol="0" anchor="ctr"/>
          <a:lstStyle/>
          <a:p>
            <a:pPr indent="0" marL="0">
              <a:buNone/>
            </a:pPr>
            <a:r>
              <a:rPr lang="en-US" sz="1500" dirty="0">
                <a:solidFill>
                  <a:srgbClr val="5E8CFF"/>
                </a:solidFill>
                <a:latin typeface="Arial" pitchFamily="34" charset="0"/>
                <a:ea typeface="Arial" pitchFamily="34" charset="-122"/>
                <a:cs typeface="Arial" pitchFamily="34" charset="-120"/>
              </a:rPr>
              <a:t>DEMO-CENTRAL  ·  Jan 2026</a:t>
            </a:r>
            <a:endParaRPr lang="en-US" sz="1500" dirty="0"/>
          </a:p>
        </p:txBody>
      </p:sp>
      <p:sp>
        <p:nvSpPr>
          <p:cNvPr id="4" name="Text 2"/>
          <p:cNvSpPr/>
          <p:nvPr/>
        </p:nvSpPr>
        <p:spPr>
          <a:xfrm>
            <a:off x="640080" y="3794760"/>
            <a:ext cx="10058400" cy="457200"/>
          </a:xfrm>
          <a:prstGeom prst="rect">
            <a:avLst/>
          </a:prstGeom>
          <a:noFill/>
          <a:ln/>
        </p:spPr>
        <p:txBody>
          <a:bodyPr wrap="square" rtlCol="0" anchor="ctr"/>
          <a:lstStyle/>
          <a:p>
            <a:pPr indent="0" marL="0">
              <a:buNone/>
            </a:pPr>
            <a:r>
              <a:rPr lang="en-US" sz="1150" dirty="0">
                <a:solidFill>
                  <a:srgbClr val="8B93B8"/>
                </a:solidFill>
                <a:latin typeface="Arial" pitchFamily="34" charset="0"/>
                <a:ea typeface="Arial" pitchFamily="34" charset="-122"/>
                <a:cs typeface="Arial" pitchFamily="34" charset="-120"/>
              </a:rPr>
              <a:t>Generated 2026-08-13 from report_data.json — every number on every slide comes from that one file.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Monthly Sales Report Jan 2026</dc:title>
  <dc:subject>PptxGenJS Presentation</dc:subject>
  <dc:creator>retail-report-pipeline</dc:creator>
  <cp:lastModifiedBy>retail-report-pipeline</cp:lastModifiedBy>
  <cp:revision>1</cp:revision>
  <dcterms:created xsi:type="dcterms:W3CDTF">2026-08-13T00:47:11Z</dcterms:created>
  <dcterms:modified xsi:type="dcterms:W3CDTF">2026-08-13T00:47:11Z</dcterms:modified>
</cp:coreProperties>
</file>